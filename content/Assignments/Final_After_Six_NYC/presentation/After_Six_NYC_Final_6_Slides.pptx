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125173161174688" /><Relationship Type="http://schemas.openxmlformats.org/officeDocument/2006/relationships/extended-properties" Target="/docProps/app.xml" Id="R517f1300d1154c31" /><Relationship Type="http://schemas.openxmlformats.org/officeDocument/2006/relationships/officeDocument" Target="/ppt/presentation.xml" Id="R862cf5b44abd4a79" /></Relationships>
</file>

<file path=ppt/presentation.xml><?xml version="1.0" encoding="utf-8"?>
<p:presentation xmlns:p="http://schemas.openxmlformats.org/presentationml/2006/main">
  <p:sldMasterIdLst>
    <p:sldMasterId xmlns:r="http://schemas.openxmlformats.org/officeDocument/2006/relationships" id="2147483648" r:id="R35ab6e991f514d0c"/>
  </p:sldMasterIdLst>
  <p:notesMasterIdLst>
    <p:notesMasterId xmlns:r="http://schemas.openxmlformats.org/officeDocument/2006/relationships" r:id="Rba26faed121a4815"/>
  </p:notesMasterIdLst>
  <p:sldIdLst>
    <p:sldId xmlns:r="http://schemas.openxmlformats.org/officeDocument/2006/relationships" id="256" r:id="R451b73dc15cd44c5"/>
    <p:sldId xmlns:r="http://schemas.openxmlformats.org/officeDocument/2006/relationships" id="257" r:id="R486f6fb00f8a4bd0"/>
    <p:sldId xmlns:r="http://schemas.openxmlformats.org/officeDocument/2006/relationships" id="258" r:id="R3b9fb0baee574edb"/>
    <p:sldId xmlns:r="http://schemas.openxmlformats.org/officeDocument/2006/relationships" id="259" r:id="Rfc57a255cf714b38"/>
    <p:sldId xmlns:r="http://schemas.openxmlformats.org/officeDocument/2006/relationships" id="260" r:id="R0e089cd324324a4e"/>
    <p:sldId xmlns:r="http://schemas.openxmlformats.org/officeDocument/2006/relationships" id="261" r:id="R5eb0cb37980741d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8c6c3bfbe97407b" /><Relationship Type="http://schemas.openxmlformats.org/officeDocument/2006/relationships/slideMaster" Target="/ppt/slideMasters/slideMaster1.xml" Id="R35ab6e991f514d0c" /><Relationship Type="http://schemas.openxmlformats.org/officeDocument/2006/relationships/notesMaster" Target="/ppt/notesMasters/notesMaster1.xml" Id="Rba26faed121a4815" /><Relationship Type="http://schemas.openxmlformats.org/officeDocument/2006/relationships/presProps" Target="/ppt/presProps.xml" Id="R6a9318dd2b874900" /><Relationship Type="http://schemas.openxmlformats.org/officeDocument/2006/relationships/tableStyles" Target="/ppt/tableStyles.xml" Id="R2c8248e642ea478e" /><Relationship Type="http://schemas.openxmlformats.org/officeDocument/2006/relationships/slide" Target="/ppt/slides/slide1.xml" Id="R451b73dc15cd44c5" /><Relationship Type="http://schemas.openxmlformats.org/officeDocument/2006/relationships/slide" Target="/ppt/slides/slide2.xml" Id="R486f6fb00f8a4bd0" /><Relationship Type="http://schemas.openxmlformats.org/officeDocument/2006/relationships/slide" Target="/ppt/slides/slide3.xml" Id="R3b9fb0baee574edb" /><Relationship Type="http://schemas.openxmlformats.org/officeDocument/2006/relationships/slide" Target="/ppt/slides/slide4.xml" Id="Rfc57a255cf714b38" /><Relationship Type="http://schemas.openxmlformats.org/officeDocument/2006/relationships/slide" Target="/ppt/slides/slide5.xml" Id="R0e089cd324324a4e" /><Relationship Type="http://schemas.openxmlformats.org/officeDocument/2006/relationships/slide" Target="/ppt/slides/slide6.xml" Id="R5eb0cb37980741d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4b3ab48f72b46a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ebebcab39714f6d" /><Relationship Type="http://schemas.openxmlformats.org/officeDocument/2006/relationships/notesMaster" Target="/ppt/notesMasters/notesMaster1.xml" Id="R47761f15da994e4f" /></Relationships>
</file>

<file path=ppt/notesSlides/_rels/notesSlide2.xml.rels>&#65279;<?xml version="1.0" encoding="utf-8"?><Relationships xmlns="http://schemas.openxmlformats.org/package/2006/relationships"><Relationship Type="http://schemas.openxmlformats.org/officeDocument/2006/relationships/slide" Target="/ppt/slides/slide2.xml" Id="R20ef8bb1e9e84316" /><Relationship Type="http://schemas.openxmlformats.org/officeDocument/2006/relationships/notesMaster" Target="/ppt/notesMasters/notesMaster1.xml" Id="R0ad3e5ecb11b4f76" /></Relationships>
</file>

<file path=ppt/notesSlides/_rels/notesSlide3.xml.rels>&#65279;<?xml version="1.0" encoding="utf-8"?><Relationships xmlns="http://schemas.openxmlformats.org/package/2006/relationships"><Relationship Type="http://schemas.openxmlformats.org/officeDocument/2006/relationships/slide" Target="/ppt/slides/slide3.xml" Id="R1c881a999ccb420f" /><Relationship Type="http://schemas.openxmlformats.org/officeDocument/2006/relationships/notesMaster" Target="/ppt/notesMasters/notesMaster1.xml" Id="R231118dc60f14d32" /></Relationships>
</file>

<file path=ppt/notesSlides/_rels/notesSlide4.xml.rels>&#65279;<?xml version="1.0" encoding="utf-8"?><Relationships xmlns="http://schemas.openxmlformats.org/package/2006/relationships"><Relationship Type="http://schemas.openxmlformats.org/officeDocument/2006/relationships/slide" Target="/ppt/slides/slide4.xml" Id="R241f56a22ad74279" /><Relationship Type="http://schemas.openxmlformats.org/officeDocument/2006/relationships/notesMaster" Target="/ppt/notesMasters/notesMaster1.xml" Id="Red7d234105ea4b07" /></Relationships>
</file>

<file path=ppt/notesSlides/_rels/notesSlide5.xml.rels>&#65279;<?xml version="1.0" encoding="utf-8"?><Relationships xmlns="http://schemas.openxmlformats.org/package/2006/relationships"><Relationship Type="http://schemas.openxmlformats.org/officeDocument/2006/relationships/slide" Target="/ppt/slides/slide5.xml" Id="R1052c386f728435c" /><Relationship Type="http://schemas.openxmlformats.org/officeDocument/2006/relationships/notesMaster" Target="/ppt/notesMasters/notesMaster1.xml" Id="R779bf8e2bcc64e68" /></Relationships>
</file>

<file path=ppt/notesSlides/_rels/notesSlide6.xml.rels>&#65279;<?xml version="1.0" encoding="utf-8"?><Relationships xmlns="http://schemas.openxmlformats.org/package/2006/relationships"><Relationship Type="http://schemas.openxmlformats.org/officeDocument/2006/relationships/slide" Target="/ppt/slides/slide6.xml" Id="Rbd432614a5584a73" /><Relationship Type="http://schemas.openxmlformats.org/officeDocument/2006/relationships/notesMaster" Target="/ppt/notesMasters/notesMaster1.xml" Id="Rae7609acc9654ed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final project expands the Networks assignment into a public cultural-access planner. It begins with a practical question I often have after class or work: a place may look close on a map, but can I realistically get there tonight? After Six NYC combines route distance with departure time, opening hours, price, mobility access, and personal interest.</a:t>
            </a:r>
          </a:p>
          <a:p xmlns:a="http://schemas.openxmlformats.org/drawingml/2006/main">
            <a:r>
              <a:t/>
            </a:r>
          </a:p>
          <a:p xmlns:a="http://schemas.openxmlformats.org/drawingml/2006/main">
            <a:r>
              <a:t>[Sources]</a:t>
            </a:r>
          </a:p>
          <a:p xmlns:a="http://schemas.openxmlformats.org/drawingml/2006/main">
            <a:r>
              <a:t>- Project-generated application screenshot.</a:t>
            </a:r>
          </a:p>
          <a:p xmlns:a="http://schemas.openxmlformats.org/drawingml/2006/main">
            <a:r>
              <a:t>- https://data.cityofnewyork.us/Recreation/DCLA-Cultural-Organizations/u35m-9t32</a:t>
            </a:r>
          </a:p>
          <a:p xmlns:a="http://schemas.openxmlformats.org/drawingml/2006/main">
            <a:r>
              <a:t>- https://data.ny.gov/Transportation/MTA-General-Transit-Feed-Specification-GTFS-Static/fgm6-ccue</a:t>
            </a:r>
          </a:p>
          <a:p xmlns:a="http://schemas.openxmlformats.org/drawingml/2006/main">
            <a:r>
              <a:t>- https://www.openstreetmap.org/copyright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research statement is that geographic proximity is not the same as experienced cultural access. Euclidean distance only measures the separation between coordinates. A real trip includes walking, station choice, line changes, transfers, and the final walk. Even after that journey is calculated, availability still depends on time, cost, mobility, and personal interest.</a:t>
            </a:r>
          </a:p>
          <a:p xmlns:a="http://schemas.openxmlformats.org/drawingml/2006/main">
            <a:r>
              <a:t/>
            </a:r>
          </a:p>
          <a:p xmlns:a="http://schemas.openxmlformats.org/drawingml/2006/main">
            <a:r>
              <a:t>[Sources]</a:t>
            </a:r>
          </a:p>
          <a:p xmlns:a="http://schemas.openxmlformats.org/drawingml/2006/main">
            <a:r>
              <a:t>- https://data.ny.gov/Transportation/MTA-General-Transit-Feed-Specification-GTFS-Static/fgm6-ccue</a:t>
            </a:r>
          </a:p>
          <a:p xmlns:a="http://schemas.openxmlformats.org/drawingml/2006/main">
            <a:r>
              <a:t>- https://data.ny.gov/Transportation/MTA-Subway-Stations/39hk-dx4f</a:t>
            </a:r>
          </a:p>
          <a:p xmlns:a="http://schemas.openxmlformats.org/drawingml/2006/main">
            <a:r>
              <a:t>- https://www.openstreetmap.org/copyright</a:t>
            </a:r>
          </a:p>
          <a:p xmlns:a="http://schemas.openxmlformats.org/drawingml/2006/main">
            <a:r>
              <a:t>- https://www.nyc.gov/site/dcla/resources/free-and-suggested-admission.page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diagram shows how the Networks exercise became a working product. I curated 161 public cultural places, including 106 structured weekly schedules and 16 date-checked current programs. I connected those records to a schedule-weighted subway graph with 1,002 station-line nodes and 4,337 weighted edges. For every place, the model compares eight destination stations, calculates an arrival, and sends a transparent result to the interface.</a:t>
            </a:r>
          </a:p>
          <a:p xmlns:a="http://schemas.openxmlformats.org/drawingml/2006/main">
            <a:r>
              <a:t/>
            </a:r>
          </a:p>
          <a:p xmlns:a="http://schemas.openxmlformats.org/drawingml/2006/main">
            <a:r>
              <a:t>[Sources]</a:t>
            </a:r>
          </a:p>
          <a:p xmlns:a="http://schemas.openxmlformats.org/drawingml/2006/main">
            <a:r>
              <a:t>- https://data.cityofnewyork.us/Recreation/DCLA-Cultural-Organizations/u35m-9t32</a:t>
            </a:r>
          </a:p>
          <a:p xmlns:a="http://schemas.openxmlformats.org/drawingml/2006/main">
            <a:r>
              <a:t>- https://data.ny.gov/Transportation/MTA-General-Transit-Feed-Specification-GTFS-Static/fgm6-ccue</a:t>
            </a:r>
          </a:p>
          <a:p xmlns:a="http://schemas.openxmlformats.org/drawingml/2006/main">
            <a:r>
              <a:t>- https://data.ny.gov/Transportation/MTA-Subway-Stations/39hk-dx4f</a:t>
            </a:r>
          </a:p>
          <a:p xmlns:a="http://schemas.openxmlformats.org/drawingml/2006/main">
            <a:r>
              <a:t>- https://www.openstreetmap.org/copyright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becomes useful through interaction. A user can search any New York starting address, set a real departure time, filter for places that will still be open at the computed arrival, and inspect the full trip. The profile changes interest, budget, trip length, and mobility priorities. On Now adds current programs with official event links. For this class prototype, profiles and saved places are stored locally, so personalization does not require collecting personal data.</a:t>
            </a:r>
          </a:p>
          <a:p xmlns:a="http://schemas.openxmlformats.org/drawingml/2006/main">
            <a:r>
              <a:t/>
            </a:r>
          </a:p>
          <a:p xmlns:a="http://schemas.openxmlformats.org/drawingml/2006/main">
            <a:r>
              <a:t>[Sources]</a:t>
            </a:r>
          </a:p>
          <a:p xmlns:a="http://schemas.openxmlformats.org/drawingml/2006/main">
            <a:r>
              <a:t>- Project-generated application 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controlled 25-profile analysis shows why a static map is not enough. At Friday 6:30 PM, for a New York student with a 15-dollar maximum, only nine places are both open and within budget. Six are free at that moment, and the median modeled journey is 39 minutes. The available set changes again on Thursday, Saturday afternoon, or Wednesday evening. Cultural access is temporal and economic as well as spatial.</a:t>
            </a:r>
          </a:p>
          <a:p xmlns:a="http://schemas.openxmlformats.org/drawingml/2006/main">
            <a:r>
              <a:t/>
            </a:r>
          </a:p>
          <a:p xmlns:a="http://schemas.openxmlformats.org/drawingml/2006/main">
            <a:r>
              <a:t>[Sources]</a:t>
            </a:r>
          </a:p>
          <a:p xmlns:a="http://schemas.openxmlformats.org/drawingml/2006/main">
            <a:r>
              <a:t>- https://www.nyc.gov/site/dcla/resources/free-and-suggested-admission.page</a:t>
            </a:r>
          </a:p>
          <a:p xmlns:a="http://schemas.openxmlformats.org/drawingml/2006/main">
            <a:r>
              <a:t>- https://data.ny.gov/Transportation/MTA-General-Transit-Feed-Specification-GTFS-Static/fgm6-ccue</a:t>
            </a:r>
          </a:p>
          <a:p xmlns:a="http://schemas.openxmlformats.org/drawingml/2006/main">
            <a:r>
              <a:t>- Project-generated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result is a usable 161-place prototype, but its limits are part of the conclusion. It uses a typical weekday schedule rather than live service, and it cannot know elevator outages, sold-out events, venue interiors, or whether a space feels welcoming to a particular person. In future semesters I would connect live transit and elevator feeds, automate official event updates, add optional account sync, and test the tool with real users. The broader research question is how cultural access differs across communities, not simply where venues are located.</a:t>
            </a:r>
          </a:p>
          <a:p xmlns:a="http://schemas.openxmlformats.org/drawingml/2006/main">
            <a:r>
              <a:t/>
            </a:r>
          </a:p>
          <a:p xmlns:a="http://schemas.openxmlformats.org/drawingml/2006/main">
            <a:r>
              <a:t>[Sources]</a:t>
            </a:r>
          </a:p>
          <a:p xmlns:a="http://schemas.openxmlformats.org/drawingml/2006/main">
            <a:r>
              <a:t>- https://data.ny.gov/Transportation/MTA-General-Transit-Feed-Specification-GTFS-Static/fgm6-ccue</a:t>
            </a:r>
          </a:p>
          <a:p xmlns:a="http://schemas.openxmlformats.org/drawingml/2006/main">
            <a:r>
              <a:t>- https://data.ny.gov/Transportation/MTA-Subway-Stations/39hk-dx4f</a:t>
            </a:r>
          </a:p>
          <a:p xmlns:a="http://schemas.openxmlformats.org/drawingml/2006/main">
            <a:r>
              <a:t>- https://data.cityofnewyork.us/Recreation/DCLA-Cultural-Organizations/u35m-9t32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4a29c08c3d9468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070d3a308c747ec" /><Relationship Type="http://schemas.openxmlformats.org/officeDocument/2006/relationships/slideLayout" Target="/ppt/slideLayouts/slideLayout1.xml" Id="Re79e2b22be6a4c9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79e2b22be6a4c9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671fa0031ca4251" /><Relationship Type="http://schemas.openxmlformats.org/officeDocument/2006/relationships/image" Target="/ppt/media/image.jpeg" Id="R39a2d53e340e46cf" /><Relationship Type="http://schemas.openxmlformats.org/officeDocument/2006/relationships/notesSlide" Target="/ppt/notesSlides/notesSlide1.xml" Id="R9c47100e61e84dd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d4f2fe0e10a4ebd" /><Relationship Type="http://schemas.openxmlformats.org/officeDocument/2006/relationships/image" Target="/ppt/media/image.png" Id="R720fbd6a6b464056" /><Relationship Type="http://schemas.openxmlformats.org/officeDocument/2006/relationships/notesSlide" Target="/ppt/notesSlides/notesSlide2.xml" Id="R87306d5f72bd480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b87a1731fab429b" /><Relationship Type="http://schemas.openxmlformats.org/officeDocument/2006/relationships/notesSlide" Target="/ppt/notesSlides/notesSlide3.xml" Id="R27cc91104b3244b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516b75b7ddd4138" /><Relationship Type="http://schemas.openxmlformats.org/officeDocument/2006/relationships/image" Target="/ppt/media/image2.jpeg" Id="R2de2838b25bf4416" /><Relationship Type="http://schemas.openxmlformats.org/officeDocument/2006/relationships/notesSlide" Target="/ppt/notesSlides/notesSlide4.xml" Id="R2c774ddc63a94ec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b73355102804719" /><Relationship Type="http://schemas.openxmlformats.org/officeDocument/2006/relationships/image" Target="/ppt/media/image2.png" Id="R9753759a11984a0a" /><Relationship Type="http://schemas.openxmlformats.org/officeDocument/2006/relationships/notesSlide" Target="/ppt/notesSlides/notesSlide5.xml" Id="R2347464d47f94f6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336c4e9f87f4028" /><Relationship Type="http://schemas.openxmlformats.org/officeDocument/2006/relationships/notesSlide" Target="/ppt/notesSlides/notesSlide6.xml" Id="R1ec0220e62a84e1e" /></Relationships>
</file>

<file path=ppt/slides/slide1.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39a2d53e340e46c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82709D9-9E72-4EB8-B375-052C46EA9520}"/>
              </a:ext>
            </a:extLst>
          </p:cNvPr>
          <p:cNvSpPr>
            <a:spLocks xmlns:a="http://schemas.openxmlformats.org/drawingml/2006/main" noGrp="1"/>
          </p:cNvSpPr>
          <p:nvPr/>
        </p:nvSpPr>
        <p:spPr>
          <a:xfrm xmlns:a="http://schemas.openxmlformats.org/drawingml/2006/main">
            <a:off x="0" y="0"/>
            <a:ext cx="5715000" cy="685800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FFF09BE-CD38-44BA-8762-B3F8826AD5B3}"/>
              </a:ext>
            </a:extLst>
          </p:cNvPr>
          <p:cNvSpPr>
            <a:spLocks xmlns:a="http://schemas.openxmlformats.org/drawingml/2006/main" noGrp="1"/>
          </p:cNvSpPr>
          <p:nvPr/>
        </p:nvSpPr>
        <p:spPr>
          <a:xfrm xmlns:a="http://schemas.openxmlformats.org/drawingml/2006/main">
            <a:off x="609600" y="590550"/>
            <a:ext cx="4191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C8F25B"/>
                </a:solidFill>
              </a:defRPr>
            </a:pPr>
            <a:r>
              <a:rPr sz="975" b="1" i="0">
                <a:solidFill>
                  <a:srgbClr val="C8F25B"/>
                </a:solidFill>
              </a:rPr>
              <a:t>MAPPING SYSTEMS · FINAL PROJECT</a:t>
            </a:r>
          </a:p>
        </p:txBody>
      </p:sp>
      <p:sp>
        <p:nvSpPr>
          <p:cNvPr id="4" name="deck-title">
            <a:extLst xmlns:a="http://schemas.openxmlformats.org/drawingml/2006/main">
              <a:ext uri="{FF2B5EF4-FFF2-40B4-BE49-F238E27FC236}">
                <a16:creationId xmlns:a16="http://schemas.microsoft.com/office/drawing/2014/main" id="{C3F153AF-4E19-4ECD-8C96-1EACB5C97D27}"/>
              </a:ext>
            </a:extLst>
          </p:cNvPr>
          <p:cNvSpPr>
            <a:spLocks xmlns:a="http://schemas.openxmlformats.org/drawingml/2006/main" noGrp="1"/>
          </p:cNvSpPr>
          <p:nvPr/>
        </p:nvSpPr>
        <p:spPr>
          <a:xfrm xmlns:a="http://schemas.openxmlformats.org/drawingml/2006/main">
            <a:off x="609600" y="1352550"/>
            <a:ext cx="4191000" cy="182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650" b="1" i="0">
                <a:solidFill>
                  <a:srgbClr val="FFFFFF"/>
                </a:solidFill>
              </a:defRPr>
            </a:pPr>
            <a:r>
              <a:rPr sz="4650" b="1" i="0">
                <a:solidFill>
                  <a:srgbClr val="FFFFFF"/>
                </a:solidFill>
              </a:rPr>
              <a:t>AFTER / SIX</a:t>
            </a:r>
          </a:p>
          <a:p xmlns:a="http://schemas.openxmlformats.org/drawingml/2006/main">
            <a:pPr algn="l">
              <a:defRPr sz="4650" b="1" i="0">
                <a:solidFill>
                  <a:srgbClr val="FFFFFF"/>
                </a:solidFill>
              </a:defRPr>
            </a:pPr>
            <a:r>
              <a:rPr sz="4650" b="1" i="0">
                <a:solidFill>
                  <a:srgbClr val="FFFFFF"/>
                </a:solidFill>
              </a:rPr>
              <a:t>NYC</a:t>
            </a:r>
          </a:p>
        </p:txBody>
      </p:sp>
      <p:sp>
        <p:nvSpPr>
          <p:cNvPr id="5" name="">
            <a:extLst xmlns:a="http://schemas.openxmlformats.org/drawingml/2006/main">
              <a:ext uri="{FF2B5EF4-FFF2-40B4-BE49-F238E27FC236}">
                <a16:creationId xmlns:a16="http://schemas.microsoft.com/office/drawing/2014/main" id="{9A8D4258-2671-4ABE-9598-624A997B6D54}"/>
              </a:ext>
            </a:extLst>
          </p:cNvPr>
          <p:cNvSpPr>
            <a:spLocks xmlns:a="http://schemas.openxmlformats.org/drawingml/2006/main" noGrp="1"/>
          </p:cNvSpPr>
          <p:nvPr/>
        </p:nvSpPr>
        <p:spPr>
          <a:xfrm xmlns:a="http://schemas.openxmlformats.org/drawingml/2006/main">
            <a:off x="609600" y="3581400"/>
            <a:ext cx="1066800" cy="66675"/>
          </a:xfrm>
          <a:prstGeom xmlns:a="http://schemas.openxmlformats.org/drawingml/2006/main" prst="rect">
            <a:avLst/>
          </a:prstGeom>
          <a:solidFill xmlns:a="http://schemas.openxmlformats.org/drawingml/2006/main">
            <a:srgbClr val="C8F25B"/>
          </a:solidFill>
          <a:ln xmlns:a="http://schemas.openxmlformats.org/drawingml/2006/main" w="0">
            <a:noFill/>
            <a:prstDash val="solid"/>
          </a:ln>
        </p:spPr>
      </p:sp>
      <p:sp>
        <p:nvSpPr>
          <p:cNvPr id="6" name="research-question">
            <a:extLst xmlns:a="http://schemas.openxmlformats.org/drawingml/2006/main">
              <a:ext uri="{FF2B5EF4-FFF2-40B4-BE49-F238E27FC236}">
                <a16:creationId xmlns:a16="http://schemas.microsoft.com/office/drawing/2014/main" id="{F9167EA6-E344-4494-819E-A793CE5255B0}"/>
              </a:ext>
            </a:extLst>
          </p:cNvPr>
          <p:cNvSpPr>
            <a:spLocks xmlns:a="http://schemas.openxmlformats.org/drawingml/2006/main" noGrp="1"/>
          </p:cNvSpPr>
          <p:nvPr/>
        </p:nvSpPr>
        <p:spPr>
          <a:xfrm xmlns:a="http://schemas.openxmlformats.org/drawingml/2006/main">
            <a:off x="609600" y="3924300"/>
            <a:ext cx="4000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i="0">
                <a:solidFill>
                  <a:srgbClr val="FFFFFF"/>
                </a:solidFill>
              </a:defRPr>
            </a:pPr>
            <a:r>
              <a:rPr sz="1875" b="1" i="0">
                <a:solidFill>
                  <a:srgbClr val="FFFFFF"/>
                </a:solidFill>
              </a:rPr>
              <a:t>When the day ends, what culture is actually reachable?</a:t>
            </a:r>
          </a:p>
        </p:txBody>
      </p:sp>
      <p:sp>
        <p:nvSpPr>
          <p:cNvPr id="7" name="author-line">
            <a:extLst xmlns:a="http://schemas.openxmlformats.org/drawingml/2006/main">
              <a:ext uri="{FF2B5EF4-FFF2-40B4-BE49-F238E27FC236}">
                <a16:creationId xmlns:a16="http://schemas.microsoft.com/office/drawing/2014/main" id="{4AE6B7AD-2B41-4E26-B012-F01AF9063E20}"/>
              </a:ext>
            </a:extLst>
          </p:cNvPr>
          <p:cNvSpPr>
            <a:spLocks xmlns:a="http://schemas.openxmlformats.org/drawingml/2006/main" noGrp="1"/>
          </p:cNvSpPr>
          <p:nvPr/>
        </p:nvSpPr>
        <p:spPr>
          <a:xfrm xmlns:a="http://schemas.openxmlformats.org/drawingml/2006/main">
            <a:off x="609600" y="5581650"/>
            <a:ext cx="4095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D4D2CA"/>
                </a:solidFill>
              </a:defRPr>
            </a:pPr>
            <a:r>
              <a:rPr sz="1200" b="0" i="0">
                <a:solidFill>
                  <a:srgbClr val="D4D2CA"/>
                </a:solidFill>
              </a:rPr>
              <a:t>Meredith Cui · Networks expanded into a public cultural-access tool</a:t>
            </a:r>
          </a:p>
        </p:txBody>
      </p:sp>
    </p:spTree>
    <p:extLst>
      <p:ext uri="{BB962C8B-B14F-4D97-AF65-F5344CB8AC3E}">
        <p14:creationId xmlns:p14="http://schemas.microsoft.com/office/powerpoint/2010/main" val="1933371100"/>
      </p:ext>
    </p:extLst>
  </p:cSld>
</p:sld>
</file>

<file path=ppt/slides/slide2.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25" name="slide-kicker">
            <a:extLst xmlns:a="http://schemas.openxmlformats.org/drawingml/2006/main">
              <a:ext uri="{FF2B5EF4-FFF2-40B4-BE49-F238E27FC236}">
                <a16:creationId xmlns:a16="http://schemas.microsoft.com/office/drawing/2014/main" id="{3BE3D9B7-A329-46A1-9FFA-08CF5739F4F6}"/>
              </a:ext>
            </a:extLst>
          </p:cNvPr>
          <p:cNvSpPr>
            <a:spLocks xmlns:a="http://schemas.openxmlformats.org/drawingml/2006/main" noGrp="1"/>
          </p:cNvSpPr>
          <p:nvPr/>
        </p:nvSpPr>
        <p:spPr>
          <a:xfrm xmlns:a="http://schemas.openxmlformats.org/drawingml/2006/main">
            <a:off x="609600" y="3619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168C70"/>
                </a:solidFill>
              </a:defRPr>
            </a:pPr>
            <a:r>
              <a:rPr sz="975" b="1" i="0">
                <a:solidFill>
                  <a:srgbClr val="168C70"/>
                </a:solidFill>
              </a:rPr>
              <a:t>RESEARCH STATEMENT</a:t>
            </a:r>
          </a:p>
        </p:txBody>
      </p:sp>
      <p:sp>
        <p:nvSpPr>
          <p:cNvPr id="2" name="slide-title">
            <a:extLst xmlns:a="http://schemas.openxmlformats.org/drawingml/2006/main">
              <a:ext uri="{FF2B5EF4-FFF2-40B4-BE49-F238E27FC236}">
                <a16:creationId xmlns:a16="http://schemas.microsoft.com/office/drawing/2014/main" id="{1349779F-B089-45BE-8DB3-BDAC217677F2}"/>
              </a:ext>
            </a:extLst>
          </p:cNvPr>
          <p:cNvSpPr>
            <a:spLocks xmlns:a="http://schemas.openxmlformats.org/drawingml/2006/main" noGrp="1"/>
          </p:cNvSpPr>
          <p:nvPr/>
        </p:nvSpPr>
        <p:spPr>
          <a:xfrm xmlns:a="http://schemas.openxmlformats.org/drawingml/2006/main">
            <a:off x="609600" y="666750"/>
            <a:ext cx="1095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i="0">
                <a:solidFill>
                  <a:srgbClr val="111111"/>
                </a:solidFill>
              </a:defRPr>
            </a:pPr>
            <a:r>
              <a:rPr sz="3150" b="1" i="0">
                <a:solidFill>
                  <a:srgbClr val="111111"/>
                </a:solidFill>
              </a:rPr>
              <a:t>Near is not the same as accessible</a:t>
            </a:r>
          </a:p>
        </p:txBody>
      </p:sp>
      <p:sp>
        <p:nvSpPr>
          <p:cNvPr id="3" name="">
            <a:extLst xmlns:a="http://schemas.openxmlformats.org/drawingml/2006/main">
              <a:ext uri="{FF2B5EF4-FFF2-40B4-BE49-F238E27FC236}">
                <a16:creationId xmlns:a16="http://schemas.microsoft.com/office/drawing/2014/main" id="{A6AB6303-79A1-4D40-A8B5-487E6F0B1C5D}"/>
              </a:ext>
            </a:extLst>
          </p:cNvPr>
          <p:cNvSpPr>
            <a:spLocks xmlns:a="http://schemas.openxmlformats.org/drawingml/2006/main" noGrp="1"/>
          </p:cNvSpPr>
          <p:nvPr/>
        </p:nvSpPr>
        <p:spPr>
          <a:xfrm xmlns:a="http://schemas.openxmlformats.org/drawingml/2006/main">
            <a:off x="609600" y="1390650"/>
            <a:ext cx="10972800" cy="95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720fbd6a6b464056"/>
          <a:stretch xmlns:a="http://schemas.openxmlformats.org/drawingml/2006/main"/>
        </p:blipFill>
        <p:spPr>
          <a:xfrm xmlns:a="http://schemas.openxmlformats.org/drawingml/2006/main">
            <a:off x="969924" y="1638300"/>
            <a:ext cx="3641802" cy="45910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D7ACD67-F6FC-4E05-A810-E6265C3D052F}"/>
              </a:ext>
            </a:extLst>
          </p:cNvPr>
          <p:cNvSpPr>
            <a:spLocks xmlns:a="http://schemas.openxmlformats.org/drawingml/2006/main" noGrp="1"/>
          </p:cNvSpPr>
          <p:nvPr/>
        </p:nvSpPr>
        <p:spPr>
          <a:xfrm xmlns:a="http://schemas.openxmlformats.org/drawingml/2006/main">
            <a:off x="5676900" y="18097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EF765F"/>
                </a:solidFill>
              </a:defRPr>
            </a:pPr>
            <a:r>
              <a:rPr sz="1050" b="1" i="0">
                <a:solidFill>
                  <a:srgbClr val="EF765F"/>
                </a:solidFill>
              </a:rPr>
              <a:t>EUCLIDEAN DISTANCE</a:t>
            </a:r>
          </a:p>
        </p:txBody>
      </p:sp>
      <p:sp>
        <p:nvSpPr>
          <p:cNvPr id="6" name="">
            <a:extLst xmlns:a="http://schemas.openxmlformats.org/drawingml/2006/main">
              <a:ext uri="{FF2B5EF4-FFF2-40B4-BE49-F238E27FC236}">
                <a16:creationId xmlns:a16="http://schemas.microsoft.com/office/drawing/2014/main" id="{EE380163-8546-48E6-B315-C8B6DE67F296}"/>
              </a:ext>
            </a:extLst>
          </p:cNvPr>
          <p:cNvSpPr>
            <a:spLocks xmlns:a="http://schemas.openxmlformats.org/drawingml/2006/main" noGrp="1"/>
          </p:cNvSpPr>
          <p:nvPr/>
        </p:nvSpPr>
        <p:spPr>
          <a:xfrm xmlns:a="http://schemas.openxmlformats.org/drawingml/2006/main">
            <a:off x="5676900" y="21336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325" b="1" i="0">
                <a:solidFill>
                  <a:srgbClr val="111111"/>
                </a:solidFill>
              </a:defRPr>
            </a:pPr>
            <a:r>
              <a:rPr sz="2325" b="1" i="0">
                <a:solidFill>
                  <a:srgbClr val="111111"/>
                </a:solidFill>
              </a:rPr>
              <a:t>measures separation</a:t>
            </a:r>
          </a:p>
        </p:txBody>
      </p:sp>
      <p:sp>
        <p:nvSpPr>
          <p:cNvPr id="7" name="">
            <a:extLst xmlns:a="http://schemas.openxmlformats.org/drawingml/2006/main">
              <a:ext uri="{FF2B5EF4-FFF2-40B4-BE49-F238E27FC236}">
                <a16:creationId xmlns:a16="http://schemas.microsoft.com/office/drawing/2014/main" id="{88825B99-D403-4862-A309-E1D1B62AA768}"/>
              </a:ext>
            </a:extLst>
          </p:cNvPr>
          <p:cNvSpPr>
            <a:spLocks xmlns:a="http://schemas.openxmlformats.org/drawingml/2006/main" noGrp="1"/>
          </p:cNvSpPr>
          <p:nvPr/>
        </p:nvSpPr>
        <p:spPr>
          <a:xfrm xmlns:a="http://schemas.openxmlformats.org/drawingml/2006/main">
            <a:off x="5676900" y="29146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365CF5"/>
                </a:solidFill>
              </a:defRPr>
            </a:pPr>
            <a:r>
              <a:rPr sz="1050" b="1" i="0">
                <a:solidFill>
                  <a:srgbClr val="365CF5"/>
                </a:solidFill>
              </a:rPr>
              <a:t>NETWORK JOURNEY</a:t>
            </a:r>
          </a:p>
        </p:txBody>
      </p:sp>
      <p:sp>
        <p:nvSpPr>
          <p:cNvPr id="8" name="">
            <a:extLst xmlns:a="http://schemas.openxmlformats.org/drawingml/2006/main">
              <a:ext uri="{FF2B5EF4-FFF2-40B4-BE49-F238E27FC236}">
                <a16:creationId xmlns:a16="http://schemas.microsoft.com/office/drawing/2014/main" id="{6512A4DE-0E86-4511-AB31-AF820B11881B}"/>
              </a:ext>
            </a:extLst>
          </p:cNvPr>
          <p:cNvSpPr>
            <a:spLocks xmlns:a="http://schemas.openxmlformats.org/drawingml/2006/main" noGrp="1"/>
          </p:cNvSpPr>
          <p:nvPr/>
        </p:nvSpPr>
        <p:spPr>
          <a:xfrm xmlns:a="http://schemas.openxmlformats.org/drawingml/2006/main">
            <a:off x="5676900" y="32385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325" b="1" i="0">
                <a:solidFill>
                  <a:srgbClr val="111111"/>
                </a:solidFill>
              </a:defRPr>
            </a:pPr>
            <a:r>
              <a:rPr sz="2325" b="1" i="0">
                <a:solidFill>
                  <a:srgbClr val="111111"/>
                </a:solidFill>
              </a:rPr>
              <a:t>measures decisions</a:t>
            </a:r>
          </a:p>
        </p:txBody>
      </p:sp>
      <p:sp>
        <p:nvSpPr>
          <p:cNvPr id="9" name="">
            <a:extLst xmlns:a="http://schemas.openxmlformats.org/drawingml/2006/main">
              <a:ext uri="{FF2B5EF4-FFF2-40B4-BE49-F238E27FC236}">
                <a16:creationId xmlns:a16="http://schemas.microsoft.com/office/drawing/2014/main" id="{8FB8BD36-7F84-45F6-A350-97253A1DD366}"/>
              </a:ext>
            </a:extLst>
          </p:cNvPr>
          <p:cNvSpPr>
            <a:spLocks xmlns:a="http://schemas.openxmlformats.org/drawingml/2006/main" noGrp="1"/>
          </p:cNvSpPr>
          <p:nvPr/>
        </p:nvSpPr>
        <p:spPr>
          <a:xfrm xmlns:a="http://schemas.openxmlformats.org/drawingml/2006/main">
            <a:off x="5676900" y="3943350"/>
            <a:ext cx="5314950" cy="19050"/>
          </a:xfrm>
          <a:prstGeom xmlns:a="http://schemas.openxmlformats.org/drawingml/2006/main" prst="rect">
            <a:avLst/>
          </a:prstGeom>
          <a:solidFill xmlns:a="http://schemas.openxmlformats.org/drawingml/2006/main">
            <a:srgbClr val="E1DFD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FE42C83-340A-4BD6-AAAE-1FA2E76640D5}"/>
              </a:ext>
            </a:extLst>
          </p:cNvPr>
          <p:cNvSpPr>
            <a:spLocks xmlns:a="http://schemas.openxmlformats.org/drawingml/2006/main" noGrp="1"/>
          </p:cNvSpPr>
          <p:nvPr/>
        </p:nvSpPr>
        <p:spPr>
          <a:xfrm xmlns:a="http://schemas.openxmlformats.org/drawingml/2006/main">
            <a:off x="5676900" y="4210050"/>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6E6D67"/>
                </a:solidFill>
              </a:defRPr>
            </a:pPr>
            <a:r>
              <a:rPr sz="1425" b="1" i="0">
                <a:solidFill>
                  <a:srgbClr val="6E6D67"/>
                </a:solidFill>
              </a:rPr>
              <a:t>Experienced access also changes with</a:t>
            </a:r>
          </a:p>
        </p:txBody>
      </p:sp>
      <p:sp>
        <p:nvSpPr>
          <p:cNvPr id="11" name="">
            <a:extLst xmlns:a="http://schemas.openxmlformats.org/drawingml/2006/main">
              <a:ext uri="{FF2B5EF4-FFF2-40B4-BE49-F238E27FC236}">
                <a16:creationId xmlns:a16="http://schemas.microsoft.com/office/drawing/2014/main" id="{49436ED6-D518-462B-B3E9-9BAA2D8800F2}"/>
              </a:ext>
            </a:extLst>
          </p:cNvPr>
          <p:cNvSpPr>
            <a:spLocks xmlns:a="http://schemas.openxmlformats.org/drawingml/2006/main" noGrp="1"/>
          </p:cNvSpPr>
          <p:nvPr/>
        </p:nvSpPr>
        <p:spPr>
          <a:xfrm xmlns:a="http://schemas.openxmlformats.org/drawingml/2006/main">
            <a:off x="5676900" y="4714875"/>
            <a:ext cx="66675" cy="257175"/>
          </a:xfrm>
          <a:prstGeom xmlns:a="http://schemas.openxmlformats.org/drawingml/2006/main" prst="rect">
            <a:avLst/>
          </a:prstGeom>
          <a:solidFill xmlns:a="http://schemas.openxmlformats.org/drawingml/2006/main">
            <a:srgbClr val="EF765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38CB533-62AC-40E0-A22C-54E7D2046ECA}"/>
              </a:ext>
            </a:extLst>
          </p:cNvPr>
          <p:cNvSpPr>
            <a:spLocks xmlns:a="http://schemas.openxmlformats.org/drawingml/2006/main" noGrp="1"/>
          </p:cNvSpPr>
          <p:nvPr/>
        </p:nvSpPr>
        <p:spPr>
          <a:xfrm xmlns:a="http://schemas.openxmlformats.org/drawingml/2006/main">
            <a:off x="5905500" y="46863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EF765F"/>
                </a:solidFill>
              </a:defRPr>
            </a:pPr>
            <a:r>
              <a:rPr sz="1200" b="1" i="0">
                <a:solidFill>
                  <a:srgbClr val="EF765F"/>
                </a:solidFill>
              </a:rPr>
              <a:t>WHEN</a:t>
            </a:r>
          </a:p>
        </p:txBody>
      </p:sp>
      <p:sp>
        <p:nvSpPr>
          <p:cNvPr id="13" name="">
            <a:extLst xmlns:a="http://schemas.openxmlformats.org/drawingml/2006/main">
              <a:ext uri="{FF2B5EF4-FFF2-40B4-BE49-F238E27FC236}">
                <a16:creationId xmlns:a16="http://schemas.microsoft.com/office/drawing/2014/main" id="{ACF9FD7B-646E-4A49-8540-89E4A4DD20DF}"/>
              </a:ext>
            </a:extLst>
          </p:cNvPr>
          <p:cNvSpPr>
            <a:spLocks xmlns:a="http://schemas.openxmlformats.org/drawingml/2006/main" noGrp="1"/>
          </p:cNvSpPr>
          <p:nvPr/>
        </p:nvSpPr>
        <p:spPr>
          <a:xfrm xmlns:a="http://schemas.openxmlformats.org/drawingml/2006/main">
            <a:off x="7029450" y="4686300"/>
            <a:ext cx="390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111111"/>
                </a:solidFill>
              </a:defRPr>
            </a:pPr>
            <a:r>
              <a:rPr sz="1275" b="0" i="0">
                <a:solidFill>
                  <a:srgbClr val="111111"/>
                </a:solidFill>
              </a:rPr>
              <a:t>Will it still be open?</a:t>
            </a:r>
          </a:p>
        </p:txBody>
      </p:sp>
      <p:sp>
        <p:nvSpPr>
          <p:cNvPr id="14" name="">
            <a:extLst xmlns:a="http://schemas.openxmlformats.org/drawingml/2006/main">
              <a:ext uri="{FF2B5EF4-FFF2-40B4-BE49-F238E27FC236}">
                <a16:creationId xmlns:a16="http://schemas.microsoft.com/office/drawing/2014/main" id="{8D1D71D1-68DC-489D-959E-22A2FAF0C36E}"/>
              </a:ext>
            </a:extLst>
          </p:cNvPr>
          <p:cNvSpPr>
            <a:spLocks xmlns:a="http://schemas.openxmlformats.org/drawingml/2006/main" noGrp="1"/>
          </p:cNvSpPr>
          <p:nvPr/>
        </p:nvSpPr>
        <p:spPr>
          <a:xfrm xmlns:a="http://schemas.openxmlformats.org/drawingml/2006/main">
            <a:off x="5676900" y="5114925"/>
            <a:ext cx="66675" cy="257175"/>
          </a:xfrm>
          <a:prstGeom xmlns:a="http://schemas.openxmlformats.org/drawingml/2006/main" prst="rect">
            <a:avLst/>
          </a:prstGeom>
          <a:solidFill xmlns:a="http://schemas.openxmlformats.org/drawingml/2006/main">
            <a:srgbClr val="DDA82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066630A-D0D6-4257-89B4-1AA97C82E890}"/>
              </a:ext>
            </a:extLst>
          </p:cNvPr>
          <p:cNvSpPr>
            <a:spLocks xmlns:a="http://schemas.openxmlformats.org/drawingml/2006/main" noGrp="1"/>
          </p:cNvSpPr>
          <p:nvPr/>
        </p:nvSpPr>
        <p:spPr>
          <a:xfrm xmlns:a="http://schemas.openxmlformats.org/drawingml/2006/main">
            <a:off x="5905500" y="50863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DDA821"/>
                </a:solidFill>
              </a:defRPr>
            </a:pPr>
            <a:r>
              <a:rPr sz="1200" b="1" i="0">
                <a:solidFill>
                  <a:srgbClr val="DDA821"/>
                </a:solidFill>
              </a:rPr>
              <a:t>COST</a:t>
            </a:r>
          </a:p>
        </p:txBody>
      </p:sp>
      <p:sp>
        <p:nvSpPr>
          <p:cNvPr id="16" name="">
            <a:extLst xmlns:a="http://schemas.openxmlformats.org/drawingml/2006/main">
              <a:ext uri="{FF2B5EF4-FFF2-40B4-BE49-F238E27FC236}">
                <a16:creationId xmlns:a16="http://schemas.microsoft.com/office/drawing/2014/main" id="{F6AC0D61-C6CC-430D-BB95-D270FE453DED}"/>
              </a:ext>
            </a:extLst>
          </p:cNvPr>
          <p:cNvSpPr>
            <a:spLocks xmlns:a="http://schemas.openxmlformats.org/drawingml/2006/main" noGrp="1"/>
          </p:cNvSpPr>
          <p:nvPr/>
        </p:nvSpPr>
        <p:spPr>
          <a:xfrm xmlns:a="http://schemas.openxmlformats.org/drawingml/2006/main">
            <a:off x="7029450" y="5086350"/>
            <a:ext cx="390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111111"/>
                </a:solidFill>
              </a:defRPr>
            </a:pPr>
            <a:r>
              <a:rPr sz="1275" b="0" i="0">
                <a:solidFill>
                  <a:srgbClr val="111111"/>
                </a:solidFill>
              </a:rPr>
              <a:t>Can this visitor afford it?</a:t>
            </a:r>
          </a:p>
        </p:txBody>
      </p:sp>
      <p:sp>
        <p:nvSpPr>
          <p:cNvPr id="17" name="">
            <a:extLst xmlns:a="http://schemas.openxmlformats.org/drawingml/2006/main">
              <a:ext uri="{FF2B5EF4-FFF2-40B4-BE49-F238E27FC236}">
                <a16:creationId xmlns:a16="http://schemas.microsoft.com/office/drawing/2014/main" id="{79AA4E71-E80C-4B95-A795-02DFA9DF4249}"/>
              </a:ext>
            </a:extLst>
          </p:cNvPr>
          <p:cNvSpPr>
            <a:spLocks xmlns:a="http://schemas.openxmlformats.org/drawingml/2006/main" noGrp="1"/>
          </p:cNvSpPr>
          <p:nvPr/>
        </p:nvSpPr>
        <p:spPr>
          <a:xfrm xmlns:a="http://schemas.openxmlformats.org/drawingml/2006/main">
            <a:off x="5676900" y="5514975"/>
            <a:ext cx="66675" cy="257175"/>
          </a:xfrm>
          <a:prstGeom xmlns:a="http://schemas.openxmlformats.org/drawingml/2006/main" prst="rect">
            <a:avLst/>
          </a:prstGeom>
          <a:solidFill xmlns:a="http://schemas.openxmlformats.org/drawingml/2006/main">
            <a:srgbClr val="168C7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08A8DFF-3A84-4D92-9E97-436A73724D61}"/>
              </a:ext>
            </a:extLst>
          </p:cNvPr>
          <p:cNvSpPr>
            <a:spLocks xmlns:a="http://schemas.openxmlformats.org/drawingml/2006/main" noGrp="1"/>
          </p:cNvSpPr>
          <p:nvPr/>
        </p:nvSpPr>
        <p:spPr>
          <a:xfrm xmlns:a="http://schemas.openxmlformats.org/drawingml/2006/main">
            <a:off x="5905500" y="54864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168C70"/>
                </a:solidFill>
              </a:defRPr>
            </a:pPr>
            <a:r>
              <a:rPr sz="1200" b="1" i="0">
                <a:solidFill>
                  <a:srgbClr val="168C70"/>
                </a:solidFill>
              </a:rPr>
              <a:t>MOBILITY</a:t>
            </a:r>
          </a:p>
        </p:txBody>
      </p:sp>
      <p:sp>
        <p:nvSpPr>
          <p:cNvPr id="19" name="">
            <a:extLst xmlns:a="http://schemas.openxmlformats.org/drawingml/2006/main">
              <a:ext uri="{FF2B5EF4-FFF2-40B4-BE49-F238E27FC236}">
                <a16:creationId xmlns:a16="http://schemas.microsoft.com/office/drawing/2014/main" id="{C354A241-2A76-44E0-9528-4AB2D7E801F3}"/>
              </a:ext>
            </a:extLst>
          </p:cNvPr>
          <p:cNvSpPr>
            <a:spLocks xmlns:a="http://schemas.openxmlformats.org/drawingml/2006/main" noGrp="1"/>
          </p:cNvSpPr>
          <p:nvPr/>
        </p:nvSpPr>
        <p:spPr>
          <a:xfrm xmlns:a="http://schemas.openxmlformats.org/drawingml/2006/main">
            <a:off x="7029450" y="5486400"/>
            <a:ext cx="390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111111"/>
                </a:solidFill>
              </a:defRPr>
            </a:pPr>
            <a:r>
              <a:rPr sz="1275" b="0" i="0">
                <a:solidFill>
                  <a:srgbClr val="111111"/>
                </a:solidFill>
              </a:rPr>
              <a:t>Is a step-free station nearby?</a:t>
            </a:r>
          </a:p>
        </p:txBody>
      </p:sp>
      <p:sp>
        <p:nvSpPr>
          <p:cNvPr id="20" name="">
            <a:extLst xmlns:a="http://schemas.openxmlformats.org/drawingml/2006/main">
              <a:ext uri="{FF2B5EF4-FFF2-40B4-BE49-F238E27FC236}">
                <a16:creationId xmlns:a16="http://schemas.microsoft.com/office/drawing/2014/main" id="{F9C72596-3916-4AF7-A7BE-3A76F6D1CC53}"/>
              </a:ext>
            </a:extLst>
          </p:cNvPr>
          <p:cNvSpPr>
            <a:spLocks xmlns:a="http://schemas.openxmlformats.org/drawingml/2006/main" noGrp="1"/>
          </p:cNvSpPr>
          <p:nvPr/>
        </p:nvSpPr>
        <p:spPr>
          <a:xfrm xmlns:a="http://schemas.openxmlformats.org/drawingml/2006/main">
            <a:off x="5676900" y="5915025"/>
            <a:ext cx="66675" cy="257175"/>
          </a:xfrm>
          <a:prstGeom xmlns:a="http://schemas.openxmlformats.org/drawingml/2006/main" prst="rect">
            <a:avLst/>
          </a:prstGeom>
          <a:solidFill xmlns:a="http://schemas.openxmlformats.org/drawingml/2006/main">
            <a:srgbClr val="DF4F8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0F9FBA39-B135-4136-91D7-25D74D621DE8}"/>
              </a:ext>
            </a:extLst>
          </p:cNvPr>
          <p:cNvSpPr>
            <a:spLocks xmlns:a="http://schemas.openxmlformats.org/drawingml/2006/main" noGrp="1"/>
          </p:cNvSpPr>
          <p:nvPr/>
        </p:nvSpPr>
        <p:spPr>
          <a:xfrm xmlns:a="http://schemas.openxmlformats.org/drawingml/2006/main">
            <a:off x="5905500" y="58864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DF4F8B"/>
                </a:solidFill>
              </a:defRPr>
            </a:pPr>
            <a:r>
              <a:rPr sz="1200" b="1" i="0">
                <a:solidFill>
                  <a:srgbClr val="DF4F8B"/>
                </a:solidFill>
              </a:rPr>
              <a:t>INTEREST</a:t>
            </a:r>
          </a:p>
        </p:txBody>
      </p:sp>
      <p:sp>
        <p:nvSpPr>
          <p:cNvPr id="22" name="">
            <a:extLst xmlns:a="http://schemas.openxmlformats.org/drawingml/2006/main">
              <a:ext uri="{FF2B5EF4-FFF2-40B4-BE49-F238E27FC236}">
                <a16:creationId xmlns:a16="http://schemas.microsoft.com/office/drawing/2014/main" id="{ACDFAB22-C8DF-4D23-AEEE-D1CEDEB4B013}"/>
              </a:ext>
            </a:extLst>
          </p:cNvPr>
          <p:cNvSpPr>
            <a:spLocks xmlns:a="http://schemas.openxmlformats.org/drawingml/2006/main" noGrp="1"/>
          </p:cNvSpPr>
          <p:nvPr/>
        </p:nvSpPr>
        <p:spPr>
          <a:xfrm xmlns:a="http://schemas.openxmlformats.org/drawingml/2006/main">
            <a:off x="7029450" y="5886450"/>
            <a:ext cx="390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111111"/>
                </a:solidFill>
              </a:defRPr>
            </a:pPr>
            <a:r>
              <a:rPr sz="1275" b="0" i="0">
                <a:solidFill>
                  <a:srgbClr val="111111"/>
                </a:solidFill>
              </a:rPr>
              <a:t>Is it worth the trip for me?</a:t>
            </a:r>
          </a:p>
        </p:txBody>
      </p:sp>
      <p:sp>
        <p:nvSpPr>
          <p:cNvPr id="23" name="footer-label">
            <a:extLst xmlns:a="http://schemas.openxmlformats.org/drawingml/2006/main">
              <a:ext uri="{FF2B5EF4-FFF2-40B4-BE49-F238E27FC236}">
                <a16:creationId xmlns:a16="http://schemas.microsoft.com/office/drawing/2014/main" id="{488AE524-BF81-498C-BA2B-7F102C1B7F7E}"/>
              </a:ext>
            </a:extLst>
          </p:cNvPr>
          <p:cNvSpPr>
            <a:spLocks xmlns:a="http://schemas.openxmlformats.org/drawingml/2006/main" noGrp="1"/>
          </p:cNvSpPr>
          <p:nvPr/>
        </p:nvSpPr>
        <p:spPr>
          <a:xfrm xmlns:a="http://schemas.openxmlformats.org/drawingml/2006/main">
            <a:off x="609600" y="6515100"/>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1" i="0">
                <a:solidFill>
                  <a:srgbClr val="6E6D67"/>
                </a:solidFill>
              </a:defRPr>
            </a:pPr>
            <a:r>
              <a:rPr sz="750" b="1" i="0">
                <a:solidFill>
                  <a:srgbClr val="6E6D67"/>
                </a:solidFill>
              </a:rPr>
              <a:t>AFTER / SIX NYC</a:t>
            </a:r>
          </a:p>
        </p:txBody>
      </p:sp>
      <p:sp>
        <p:nvSpPr>
          <p:cNvPr id="24" name="footer-number">
            <a:extLst xmlns:a="http://schemas.openxmlformats.org/drawingml/2006/main">
              <a:ext uri="{FF2B5EF4-FFF2-40B4-BE49-F238E27FC236}">
                <a16:creationId xmlns:a16="http://schemas.microsoft.com/office/drawing/2014/main" id="{FB79D952-C4D9-4FD1-80EB-A001752DACAB}"/>
              </a:ext>
            </a:extLst>
          </p:cNvPr>
          <p:cNvSpPr>
            <a:spLocks xmlns:a="http://schemas.openxmlformats.org/drawingml/2006/main" noGrp="1"/>
          </p:cNvSpPr>
          <p:nvPr/>
        </p:nvSpPr>
        <p:spPr>
          <a:xfrm xmlns:a="http://schemas.openxmlformats.org/drawingml/2006/main">
            <a:off x="10972800" y="6515100"/>
            <a:ext cx="609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6E6D67"/>
                </a:solidFill>
              </a:defRPr>
            </a:pPr>
            <a:r>
              <a:rPr sz="750" b="1" i="0">
                <a:solidFill>
                  <a:srgbClr val="6E6D67"/>
                </a:solidFill>
              </a:rPr>
              <a:t>02</a:t>
            </a:r>
          </a:p>
        </p:txBody>
      </p:sp>
    </p:spTree>
    <p:extLst>
      <p:ext uri="{BB962C8B-B14F-4D97-AF65-F5344CB8AC3E}">
        <p14:creationId xmlns:p14="http://schemas.microsoft.com/office/powerpoint/2010/main" val="1213264162"/>
      </p:ext>
    </p:extLst>
  </p:cSld>
</p:sld>
</file>

<file path=ppt/slides/slide3.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33" name="slide-kicker">
            <a:extLst xmlns:a="http://schemas.openxmlformats.org/drawingml/2006/main">
              <a:ext uri="{FF2B5EF4-FFF2-40B4-BE49-F238E27FC236}">
                <a16:creationId xmlns:a16="http://schemas.microsoft.com/office/drawing/2014/main" id="{FCCC9548-BE2B-4DC9-BFC8-D41AF5562510}"/>
              </a:ext>
            </a:extLst>
          </p:cNvPr>
          <p:cNvSpPr>
            <a:spLocks xmlns:a="http://schemas.openxmlformats.org/drawingml/2006/main" noGrp="1"/>
          </p:cNvSpPr>
          <p:nvPr/>
        </p:nvSpPr>
        <p:spPr>
          <a:xfrm xmlns:a="http://schemas.openxmlformats.org/drawingml/2006/main">
            <a:off x="609600" y="3619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168C70"/>
                </a:solidFill>
              </a:defRPr>
            </a:pPr>
            <a:r>
              <a:rPr sz="975" b="1" i="0">
                <a:solidFill>
                  <a:srgbClr val="168C70"/>
                </a:solidFill>
              </a:rPr>
              <a:t>PROJECT DIAGRAM</a:t>
            </a:r>
          </a:p>
        </p:txBody>
      </p:sp>
      <p:sp>
        <p:nvSpPr>
          <p:cNvPr id="2" name="slide-title">
            <a:extLst xmlns:a="http://schemas.openxmlformats.org/drawingml/2006/main">
              <a:ext uri="{FF2B5EF4-FFF2-40B4-BE49-F238E27FC236}">
                <a16:creationId xmlns:a16="http://schemas.microsoft.com/office/drawing/2014/main" id="{F75CED69-4918-4353-B684-02FB765F456D}"/>
              </a:ext>
            </a:extLst>
          </p:cNvPr>
          <p:cNvSpPr>
            <a:spLocks xmlns:a="http://schemas.openxmlformats.org/drawingml/2006/main" noGrp="1"/>
          </p:cNvSpPr>
          <p:nvPr/>
        </p:nvSpPr>
        <p:spPr>
          <a:xfrm xmlns:a="http://schemas.openxmlformats.org/drawingml/2006/main">
            <a:off x="609600" y="666750"/>
            <a:ext cx="10763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i="0">
                <a:solidFill>
                  <a:srgbClr val="111111"/>
                </a:solidFill>
              </a:defRPr>
            </a:pPr>
            <a:r>
              <a:rPr sz="3150" b="1" i="0">
                <a:solidFill>
                  <a:srgbClr val="111111"/>
                </a:solidFill>
              </a:rPr>
              <a:t>The Networks exercise became a public decision tool</a:t>
            </a:r>
          </a:p>
        </p:txBody>
      </p:sp>
      <p:sp>
        <p:nvSpPr>
          <p:cNvPr id="3" name="">
            <a:extLst xmlns:a="http://schemas.openxmlformats.org/drawingml/2006/main">
              <a:ext uri="{FF2B5EF4-FFF2-40B4-BE49-F238E27FC236}">
                <a16:creationId xmlns:a16="http://schemas.microsoft.com/office/drawing/2014/main" id="{0AE85484-0560-479D-8F4F-2BDA61366D5D}"/>
              </a:ext>
            </a:extLst>
          </p:cNvPr>
          <p:cNvSpPr>
            <a:spLocks xmlns:a="http://schemas.openxmlformats.org/drawingml/2006/main" noGrp="1"/>
          </p:cNvSpPr>
          <p:nvPr/>
        </p:nvSpPr>
        <p:spPr>
          <a:xfrm xmlns:a="http://schemas.openxmlformats.org/drawingml/2006/main">
            <a:off x="609600" y="1390650"/>
            <a:ext cx="10972800" cy="95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4" name="input-to-model">
            <a:extLst xmlns:a="http://schemas.openxmlformats.org/drawingml/2006/main">
              <a:ext uri="{FF2B5EF4-FFF2-40B4-BE49-F238E27FC236}">
                <a16:creationId xmlns:a16="http://schemas.microsoft.com/office/drawing/2014/main" id="{F0247994-59E8-41BE-8774-F6B81D7EB14C}"/>
              </a:ext>
            </a:extLst>
          </p:cNvPr>
          <p:cNvSpPr>
            <a:spLocks xmlns:a="http://schemas.openxmlformats.org/drawingml/2006/main" noGrp="1"/>
          </p:cNvSpPr>
          <p:nvPr/>
        </p:nvSpPr>
        <p:spPr>
          <a:xfrm xmlns:a="http://schemas.openxmlformats.org/drawingml/2006/main">
            <a:off x="3333750" y="2609850"/>
            <a:ext cx="990600" cy="438150"/>
          </a:xfrm>
          <a:prstGeom xmlns:a="http://schemas.openxmlformats.org/drawingml/2006/main" prst="rightArrow">
            <a:avLst/>
          </a:prstGeom>
          <a:solidFill xmlns:a="http://schemas.openxmlformats.org/drawingml/2006/main">
            <a:srgbClr val="E1DFD7"/>
          </a:solidFill>
          <a:ln xmlns:a="http://schemas.openxmlformats.org/drawingml/2006/main" w="0">
            <a:noFill/>
            <a:prstDash val="solid"/>
          </a:ln>
        </p:spPr>
      </p:sp>
      <p:sp>
        <p:nvSpPr>
          <p:cNvPr id="5" name="model-to-output">
            <a:extLst xmlns:a="http://schemas.openxmlformats.org/drawingml/2006/main">
              <a:ext uri="{FF2B5EF4-FFF2-40B4-BE49-F238E27FC236}">
                <a16:creationId xmlns:a16="http://schemas.microsoft.com/office/drawing/2014/main" id="{EB4E8EF9-0E95-40A6-BFC7-1597FF45DE7C}"/>
              </a:ext>
            </a:extLst>
          </p:cNvPr>
          <p:cNvSpPr>
            <a:spLocks xmlns:a="http://schemas.openxmlformats.org/drawingml/2006/main" noGrp="1"/>
          </p:cNvSpPr>
          <p:nvPr/>
        </p:nvSpPr>
        <p:spPr>
          <a:xfrm xmlns:a="http://schemas.openxmlformats.org/drawingml/2006/main">
            <a:off x="7715250" y="2609850"/>
            <a:ext cx="990600" cy="438150"/>
          </a:xfrm>
          <a:prstGeom xmlns:a="http://schemas.openxmlformats.org/drawingml/2006/main" prst="rightArrow">
            <a:avLst/>
          </a:prstGeom>
          <a:solidFill xmlns:a="http://schemas.openxmlformats.org/drawingml/2006/main">
            <a:srgbClr val="E1DFD7"/>
          </a:solidFill>
          <a:ln xmlns:a="http://schemas.openxmlformats.org/drawingml/2006/main" w="0">
            <a:noFill/>
            <a:prstDash val="solid"/>
          </a:ln>
        </p:spPr>
      </p:sp>
      <p:sp>
        <p:nvSpPr>
          <p:cNvPr id="6" name="data-inputs">
            <a:extLst xmlns:a="http://schemas.openxmlformats.org/drawingml/2006/main">
              <a:ext uri="{FF2B5EF4-FFF2-40B4-BE49-F238E27FC236}">
                <a16:creationId xmlns:a16="http://schemas.microsoft.com/office/drawing/2014/main" id="{ADC65436-2BD5-45AA-AEC4-F78F101C22C8}"/>
              </a:ext>
            </a:extLst>
          </p:cNvPr>
          <p:cNvSpPr>
            <a:spLocks xmlns:a="http://schemas.openxmlformats.org/drawingml/2006/main" noGrp="1"/>
          </p:cNvSpPr>
          <p:nvPr/>
        </p:nvSpPr>
        <p:spPr>
          <a:xfrm xmlns:a="http://schemas.openxmlformats.org/drawingml/2006/main">
            <a:off x="609600" y="1809750"/>
            <a:ext cx="2857500" cy="2381250"/>
          </a:xfrm>
          <a:prstGeom xmlns:a="http://schemas.openxmlformats.org/drawingml/2006/main" prst="rect">
            <a:avLst/>
          </a:prstGeom>
          <a:solidFill xmlns:a="http://schemas.openxmlformats.org/drawingml/2006/main">
            <a:srgbClr val="FFFFFF"/>
          </a:solidFill>
          <a:ln xmlns:a="http://schemas.openxmlformats.org/drawingml/2006/main" w="9525">
            <a:solidFill>
              <a:srgbClr val="E1DFD7"/>
            </a:solidFill>
            <a:prstDash val="solid"/>
          </a:ln>
        </p:spPr>
      </p:sp>
      <p:sp>
        <p:nvSpPr>
          <p:cNvPr id="7" name="">
            <a:extLst xmlns:a="http://schemas.openxmlformats.org/drawingml/2006/main">
              <a:ext uri="{FF2B5EF4-FFF2-40B4-BE49-F238E27FC236}">
                <a16:creationId xmlns:a16="http://schemas.microsoft.com/office/drawing/2014/main" id="{C44BBBB3-43E0-4F6B-B82B-925E3C5D0688}"/>
              </a:ext>
            </a:extLst>
          </p:cNvPr>
          <p:cNvSpPr>
            <a:spLocks xmlns:a="http://schemas.openxmlformats.org/drawingml/2006/main" noGrp="1"/>
          </p:cNvSpPr>
          <p:nvPr/>
        </p:nvSpPr>
        <p:spPr>
          <a:xfrm xmlns:a="http://schemas.openxmlformats.org/drawingml/2006/main">
            <a:off x="838200" y="20574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168C70"/>
                </a:solidFill>
              </a:defRPr>
            </a:pPr>
            <a:r>
              <a:rPr sz="1125" b="1" i="0">
                <a:solidFill>
                  <a:srgbClr val="168C70"/>
                </a:solidFill>
              </a:rPr>
              <a:t>01 · INPUT</a:t>
            </a:r>
          </a:p>
        </p:txBody>
      </p:sp>
      <p:sp>
        <p:nvSpPr>
          <p:cNvPr id="8" name="">
            <a:extLst xmlns:a="http://schemas.openxmlformats.org/drawingml/2006/main">
              <a:ext uri="{FF2B5EF4-FFF2-40B4-BE49-F238E27FC236}">
                <a16:creationId xmlns:a16="http://schemas.microsoft.com/office/drawing/2014/main" id="{2B907FB3-A8CB-4EB4-A23F-DD479F6BDC58}"/>
              </a:ext>
            </a:extLst>
          </p:cNvPr>
          <p:cNvSpPr>
            <a:spLocks xmlns:a="http://schemas.openxmlformats.org/drawingml/2006/main" noGrp="1"/>
          </p:cNvSpPr>
          <p:nvPr/>
        </p:nvSpPr>
        <p:spPr>
          <a:xfrm xmlns:a="http://schemas.openxmlformats.org/drawingml/2006/main">
            <a:off x="838200" y="2524125"/>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111111"/>
                </a:solidFill>
              </a:defRPr>
            </a:pPr>
            <a:r>
              <a:rPr sz="1500" b="1" i="0">
                <a:solidFill>
                  <a:srgbClr val="111111"/>
                </a:solidFill>
              </a:rPr>
              <a:t>PUBLIC PLACES</a:t>
            </a:r>
          </a:p>
        </p:txBody>
      </p:sp>
      <p:sp>
        <p:nvSpPr>
          <p:cNvPr id="9" name="">
            <a:extLst xmlns:a="http://schemas.openxmlformats.org/drawingml/2006/main">
              <a:ext uri="{FF2B5EF4-FFF2-40B4-BE49-F238E27FC236}">
                <a16:creationId xmlns:a16="http://schemas.microsoft.com/office/drawing/2014/main" id="{186F0F97-DF27-4535-9422-AD671C2EE9E4}"/>
              </a:ext>
            </a:extLst>
          </p:cNvPr>
          <p:cNvSpPr>
            <a:spLocks xmlns:a="http://schemas.openxmlformats.org/drawingml/2006/main" noGrp="1"/>
          </p:cNvSpPr>
          <p:nvPr/>
        </p:nvSpPr>
        <p:spPr>
          <a:xfrm xmlns:a="http://schemas.openxmlformats.org/drawingml/2006/main">
            <a:off x="838200" y="2857500"/>
            <a:ext cx="2266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6E6D67"/>
                </a:solidFill>
              </a:defRPr>
            </a:pPr>
            <a:r>
              <a:rPr sz="1275" b="0" i="0">
                <a:solidFill>
                  <a:srgbClr val="6E6D67"/>
                </a:solidFill>
              </a:rPr>
              <a:t>venue · hours · admission</a:t>
            </a:r>
          </a:p>
          <a:p xmlns:a="http://schemas.openxmlformats.org/drawingml/2006/main">
            <a:pPr algn="l">
              <a:defRPr sz="1275" b="0" i="0">
                <a:solidFill>
                  <a:srgbClr val="6E6D67"/>
                </a:solidFill>
              </a:defRPr>
            </a:pPr>
            <a:r>
              <a:rPr sz="1275" b="0" i="0">
                <a:solidFill>
                  <a:srgbClr val="6E6D67"/>
                </a:solidFill>
              </a:rPr>
              <a:t>current programs</a:t>
            </a:r>
          </a:p>
        </p:txBody>
      </p:sp>
      <p:sp>
        <p:nvSpPr>
          <p:cNvPr id="10" name="">
            <a:extLst xmlns:a="http://schemas.openxmlformats.org/drawingml/2006/main">
              <a:ext uri="{FF2B5EF4-FFF2-40B4-BE49-F238E27FC236}">
                <a16:creationId xmlns:a16="http://schemas.microsoft.com/office/drawing/2014/main" id="{489DE7E8-0B1B-445B-ABD1-AF399510DF49}"/>
              </a:ext>
            </a:extLst>
          </p:cNvPr>
          <p:cNvSpPr>
            <a:spLocks xmlns:a="http://schemas.openxmlformats.org/drawingml/2006/main" noGrp="1"/>
          </p:cNvSpPr>
          <p:nvPr/>
        </p:nvSpPr>
        <p:spPr>
          <a:xfrm xmlns:a="http://schemas.openxmlformats.org/drawingml/2006/main">
            <a:off x="838200" y="3562350"/>
            <a:ext cx="2171700" cy="9525"/>
          </a:xfrm>
          <a:prstGeom xmlns:a="http://schemas.openxmlformats.org/drawingml/2006/main" prst="rect">
            <a:avLst/>
          </a:prstGeom>
          <a:solidFill xmlns:a="http://schemas.openxmlformats.org/drawingml/2006/main">
            <a:srgbClr val="E1DFD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C996ED2-5DC9-45C6-AB58-6327F83F8FA8}"/>
              </a:ext>
            </a:extLst>
          </p:cNvPr>
          <p:cNvSpPr>
            <a:spLocks xmlns:a="http://schemas.openxmlformats.org/drawingml/2006/main" noGrp="1"/>
          </p:cNvSpPr>
          <p:nvPr/>
        </p:nvSpPr>
        <p:spPr>
          <a:xfrm xmlns:a="http://schemas.openxmlformats.org/drawingml/2006/main">
            <a:off x="838200" y="3724275"/>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111111"/>
                </a:solidFill>
              </a:defRPr>
            </a:pPr>
            <a:r>
              <a:rPr sz="1500" b="1" i="0">
                <a:solidFill>
                  <a:srgbClr val="111111"/>
                </a:solidFill>
              </a:rPr>
              <a:t>TRANSIT NETWORK</a:t>
            </a:r>
          </a:p>
        </p:txBody>
      </p:sp>
      <p:sp>
        <p:nvSpPr>
          <p:cNvPr id="12" name="network-model">
            <a:extLst xmlns:a="http://schemas.openxmlformats.org/drawingml/2006/main">
              <a:ext uri="{FF2B5EF4-FFF2-40B4-BE49-F238E27FC236}">
                <a16:creationId xmlns:a16="http://schemas.microsoft.com/office/drawing/2014/main" id="{B8074ADB-31D2-49B8-BF0C-D8616580A4C1}"/>
              </a:ext>
            </a:extLst>
          </p:cNvPr>
          <p:cNvSpPr>
            <a:spLocks xmlns:a="http://schemas.openxmlformats.org/drawingml/2006/main" noGrp="1"/>
          </p:cNvSpPr>
          <p:nvPr/>
        </p:nvSpPr>
        <p:spPr>
          <a:xfrm xmlns:a="http://schemas.openxmlformats.org/drawingml/2006/main">
            <a:off x="4267200" y="1809750"/>
            <a:ext cx="3505200" cy="23812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9854EFB-5B03-4660-8196-6ED924809C2A}"/>
              </a:ext>
            </a:extLst>
          </p:cNvPr>
          <p:cNvSpPr>
            <a:spLocks xmlns:a="http://schemas.openxmlformats.org/drawingml/2006/main" noGrp="1"/>
          </p:cNvSpPr>
          <p:nvPr/>
        </p:nvSpPr>
        <p:spPr>
          <a:xfrm xmlns:a="http://schemas.openxmlformats.org/drawingml/2006/main">
            <a:off x="4514850" y="20574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C8F25B"/>
                </a:solidFill>
              </a:defRPr>
            </a:pPr>
            <a:r>
              <a:rPr sz="1125" b="1" i="0">
                <a:solidFill>
                  <a:srgbClr val="C8F25B"/>
                </a:solidFill>
              </a:rPr>
              <a:t>02 · MODEL</a:t>
            </a:r>
          </a:p>
        </p:txBody>
      </p:sp>
      <p:sp>
        <p:nvSpPr>
          <p:cNvPr id="14" name="">
            <a:extLst xmlns:a="http://schemas.openxmlformats.org/drawingml/2006/main">
              <a:ext uri="{FF2B5EF4-FFF2-40B4-BE49-F238E27FC236}">
                <a16:creationId xmlns:a16="http://schemas.microsoft.com/office/drawing/2014/main" id="{A3F272C3-3E10-4B54-A5B2-F47659A85C30}"/>
              </a:ext>
            </a:extLst>
          </p:cNvPr>
          <p:cNvSpPr>
            <a:spLocks xmlns:a="http://schemas.openxmlformats.org/drawingml/2006/main" noGrp="1"/>
          </p:cNvSpPr>
          <p:nvPr/>
        </p:nvSpPr>
        <p:spPr>
          <a:xfrm xmlns:a="http://schemas.openxmlformats.org/drawingml/2006/main">
            <a:off x="4514850" y="2524125"/>
            <a:ext cx="295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i="0">
                <a:solidFill>
                  <a:srgbClr val="FFFFFF"/>
                </a:solidFill>
              </a:defRPr>
            </a:pPr>
            <a:r>
              <a:rPr sz="2025" b="1" i="0">
                <a:solidFill>
                  <a:srgbClr val="FFFFFF"/>
                </a:solidFill>
              </a:rPr>
              <a:t>Schedule-weighted graph</a:t>
            </a:r>
          </a:p>
        </p:txBody>
      </p:sp>
      <p:sp>
        <p:nvSpPr>
          <p:cNvPr id="15" name="">
            <a:extLst xmlns:a="http://schemas.openxmlformats.org/drawingml/2006/main">
              <a:ext uri="{FF2B5EF4-FFF2-40B4-BE49-F238E27FC236}">
                <a16:creationId xmlns:a16="http://schemas.microsoft.com/office/drawing/2014/main" id="{E4DC7B1C-195D-47A0-8A0F-F5D840C6372F}"/>
              </a:ext>
            </a:extLst>
          </p:cNvPr>
          <p:cNvSpPr>
            <a:spLocks xmlns:a="http://schemas.openxmlformats.org/drawingml/2006/main" noGrp="1"/>
          </p:cNvSpPr>
          <p:nvPr/>
        </p:nvSpPr>
        <p:spPr>
          <a:xfrm xmlns:a="http://schemas.openxmlformats.org/drawingml/2006/main">
            <a:off x="4514850" y="3238500"/>
            <a:ext cx="295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D4D2CA"/>
                </a:solidFill>
              </a:defRPr>
            </a:pPr>
            <a:r>
              <a:rPr sz="1200" b="0" i="0">
                <a:solidFill>
                  <a:srgbClr val="D4D2CA"/>
                </a:solidFill>
              </a:rPr>
              <a:t>best of 8 destination stations</a:t>
            </a:r>
          </a:p>
          <a:p xmlns:a="http://schemas.openxmlformats.org/drawingml/2006/main">
            <a:pPr algn="l">
              <a:defRPr sz="1200" b="0" i="0">
                <a:solidFill>
                  <a:srgbClr val="D4D2CA"/>
                </a:solidFill>
              </a:defRPr>
            </a:pPr>
            <a:r>
              <a:rPr sz="1200" b="0" i="0">
                <a:solidFill>
                  <a:srgbClr val="D4D2CA"/>
                </a:solidFill>
              </a:rPr>
              <a:t>walking + wait + ride + transfer + exit</a:t>
            </a:r>
          </a:p>
          <a:p xmlns:a="http://schemas.openxmlformats.org/drawingml/2006/main">
            <a:pPr algn="l">
              <a:defRPr sz="1200" b="0" i="0">
                <a:solidFill>
                  <a:srgbClr val="D4D2CA"/>
                </a:solidFill>
              </a:defRPr>
            </a:pPr>
            <a:r>
              <a:rPr sz="1200" b="0" i="0">
                <a:solidFill>
                  <a:srgbClr val="D4D2CA"/>
                </a:solidFill>
              </a:rPr>
              <a:t>score by time, cost, opening, access, interest</a:t>
            </a:r>
          </a:p>
        </p:txBody>
      </p:sp>
      <p:sp>
        <p:nvSpPr>
          <p:cNvPr id="16" name="public-output">
            <a:extLst xmlns:a="http://schemas.openxmlformats.org/drawingml/2006/main">
              <a:ext uri="{FF2B5EF4-FFF2-40B4-BE49-F238E27FC236}">
                <a16:creationId xmlns:a16="http://schemas.microsoft.com/office/drawing/2014/main" id="{7EFE74FA-3009-482B-8F8E-0EB4ECF48868}"/>
              </a:ext>
            </a:extLst>
          </p:cNvPr>
          <p:cNvSpPr>
            <a:spLocks xmlns:a="http://schemas.openxmlformats.org/drawingml/2006/main" noGrp="1"/>
          </p:cNvSpPr>
          <p:nvPr/>
        </p:nvSpPr>
        <p:spPr>
          <a:xfrm xmlns:a="http://schemas.openxmlformats.org/drawingml/2006/main">
            <a:off x="8572500" y="1809750"/>
            <a:ext cx="3009900" cy="2381250"/>
          </a:xfrm>
          <a:prstGeom xmlns:a="http://schemas.openxmlformats.org/drawingml/2006/main" prst="rect">
            <a:avLst/>
          </a:prstGeom>
          <a:solidFill xmlns:a="http://schemas.openxmlformats.org/drawingml/2006/main">
            <a:srgbClr val="C8F25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72BA9E9-5D21-458C-B20A-1A2FE79373CE}"/>
              </a:ext>
            </a:extLst>
          </p:cNvPr>
          <p:cNvSpPr>
            <a:spLocks xmlns:a="http://schemas.openxmlformats.org/drawingml/2006/main" noGrp="1"/>
          </p:cNvSpPr>
          <p:nvPr/>
        </p:nvSpPr>
        <p:spPr>
          <a:xfrm xmlns:a="http://schemas.openxmlformats.org/drawingml/2006/main">
            <a:off x="8820150" y="20574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111111"/>
                </a:solidFill>
              </a:defRPr>
            </a:pPr>
            <a:r>
              <a:rPr sz="1125" b="1" i="0">
                <a:solidFill>
                  <a:srgbClr val="111111"/>
                </a:solidFill>
              </a:rPr>
              <a:t>03 · OUTPUT</a:t>
            </a:r>
          </a:p>
        </p:txBody>
      </p:sp>
      <p:sp>
        <p:nvSpPr>
          <p:cNvPr id="18" name="">
            <a:extLst xmlns:a="http://schemas.openxmlformats.org/drawingml/2006/main">
              <a:ext uri="{FF2B5EF4-FFF2-40B4-BE49-F238E27FC236}">
                <a16:creationId xmlns:a16="http://schemas.microsoft.com/office/drawing/2014/main" id="{37976568-54D5-4705-BC3A-ED2DA21E3974}"/>
              </a:ext>
            </a:extLst>
          </p:cNvPr>
          <p:cNvSpPr>
            <a:spLocks xmlns:a="http://schemas.openxmlformats.org/drawingml/2006/main" noGrp="1"/>
          </p:cNvSpPr>
          <p:nvPr/>
        </p:nvSpPr>
        <p:spPr>
          <a:xfrm xmlns:a="http://schemas.openxmlformats.org/drawingml/2006/main">
            <a:off x="8820150" y="2524125"/>
            <a:ext cx="2476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75" b="1" i="0">
                <a:solidFill>
                  <a:srgbClr val="111111"/>
                </a:solidFill>
              </a:defRPr>
            </a:pPr>
            <a:r>
              <a:rPr sz="2175" b="1" i="0">
                <a:solidFill>
                  <a:srgbClr val="111111"/>
                </a:solidFill>
              </a:rPr>
              <a:t>A route-aware</a:t>
            </a:r>
          </a:p>
          <a:p xmlns:a="http://schemas.openxmlformats.org/drawingml/2006/main">
            <a:pPr algn="l">
              <a:defRPr sz="2175" b="1" i="0">
                <a:solidFill>
                  <a:srgbClr val="111111"/>
                </a:solidFill>
              </a:defRPr>
            </a:pPr>
            <a:r>
              <a:rPr sz="2175" b="1" i="0">
                <a:solidFill>
                  <a:srgbClr val="111111"/>
                </a:solidFill>
              </a:rPr>
              <a:t>evening planner</a:t>
            </a:r>
          </a:p>
        </p:txBody>
      </p:sp>
      <p:sp>
        <p:nvSpPr>
          <p:cNvPr id="19" name="">
            <a:extLst xmlns:a="http://schemas.openxmlformats.org/drawingml/2006/main">
              <a:ext uri="{FF2B5EF4-FFF2-40B4-BE49-F238E27FC236}">
                <a16:creationId xmlns:a16="http://schemas.microsoft.com/office/drawing/2014/main" id="{68FA898F-2278-4DDB-953B-73075FAF481A}"/>
              </a:ext>
            </a:extLst>
          </p:cNvPr>
          <p:cNvSpPr>
            <a:spLocks xmlns:a="http://schemas.openxmlformats.org/drawingml/2006/main" noGrp="1"/>
          </p:cNvSpPr>
          <p:nvPr/>
        </p:nvSpPr>
        <p:spPr>
          <a:xfrm xmlns:a="http://schemas.openxmlformats.org/drawingml/2006/main">
            <a:off x="8820150" y="3371850"/>
            <a:ext cx="2381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111111"/>
                </a:solidFill>
              </a:defRPr>
            </a:pPr>
            <a:r>
              <a:rPr sz="1275" b="0" i="0">
                <a:solidFill>
                  <a:srgbClr val="111111"/>
                </a:solidFill>
              </a:rPr>
              <a:t>ranked places</a:t>
            </a:r>
          </a:p>
          <a:p xmlns:a="http://schemas.openxmlformats.org/drawingml/2006/main">
            <a:pPr algn="l">
              <a:defRPr sz="1275" b="0" i="0">
                <a:solidFill>
                  <a:srgbClr val="111111"/>
                </a:solidFill>
              </a:defRPr>
            </a:pPr>
            <a:r>
              <a:rPr sz="1275" b="0" i="0">
                <a:solidFill>
                  <a:srgbClr val="111111"/>
                </a:solidFill>
              </a:rPr>
              <a:t>route + travel time + arrival</a:t>
            </a:r>
          </a:p>
          <a:p xmlns:a="http://schemas.openxmlformats.org/drawingml/2006/main">
            <a:pPr algn="l">
              <a:defRPr sz="1275" b="0" i="0">
                <a:solidFill>
                  <a:srgbClr val="111111"/>
                </a:solidFill>
              </a:defRPr>
            </a:pPr>
            <a:r>
              <a:rPr sz="1275" b="0" i="0">
                <a:solidFill>
                  <a:srgbClr val="111111"/>
                </a:solidFill>
              </a:rPr>
              <a:t>open when I arrive</a:t>
            </a:r>
          </a:p>
        </p:txBody>
      </p:sp>
      <p:sp>
        <p:nvSpPr>
          <p:cNvPr id="20" name="">
            <a:extLst xmlns:a="http://schemas.openxmlformats.org/drawingml/2006/main">
              <a:ext uri="{FF2B5EF4-FFF2-40B4-BE49-F238E27FC236}">
                <a16:creationId xmlns:a16="http://schemas.microsoft.com/office/drawing/2014/main" id="{7795A5D1-352C-43C4-889D-2427DA63D275}"/>
              </a:ext>
            </a:extLst>
          </p:cNvPr>
          <p:cNvSpPr>
            <a:spLocks xmlns:a="http://schemas.openxmlformats.org/drawingml/2006/main" noGrp="1"/>
          </p:cNvSpPr>
          <p:nvPr/>
        </p:nvSpPr>
        <p:spPr>
          <a:xfrm xmlns:a="http://schemas.openxmlformats.org/drawingml/2006/main">
            <a:off x="609600" y="4686300"/>
            <a:ext cx="1981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000" b="1" i="0">
                <a:solidFill>
                  <a:srgbClr val="111111"/>
                </a:solidFill>
              </a:defRPr>
            </a:pPr>
            <a:r>
              <a:rPr sz="3000" b="1" i="0">
                <a:solidFill>
                  <a:srgbClr val="111111"/>
                </a:solidFill>
              </a:rPr>
              <a:t>161</a:t>
            </a:r>
          </a:p>
        </p:txBody>
      </p:sp>
      <p:sp>
        <p:nvSpPr>
          <p:cNvPr id="21" name="">
            <a:extLst xmlns:a="http://schemas.openxmlformats.org/drawingml/2006/main">
              <a:ext uri="{FF2B5EF4-FFF2-40B4-BE49-F238E27FC236}">
                <a16:creationId xmlns:a16="http://schemas.microsoft.com/office/drawing/2014/main" id="{4F84E5B6-4FC0-493D-BEFE-6AA27CD62A6E}"/>
              </a:ext>
            </a:extLst>
          </p:cNvPr>
          <p:cNvSpPr>
            <a:spLocks xmlns:a="http://schemas.openxmlformats.org/drawingml/2006/main" noGrp="1"/>
          </p:cNvSpPr>
          <p:nvPr/>
        </p:nvSpPr>
        <p:spPr>
          <a:xfrm xmlns:a="http://schemas.openxmlformats.org/drawingml/2006/main">
            <a:off x="609600" y="5276850"/>
            <a:ext cx="1981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6E6D67"/>
                </a:solidFill>
              </a:defRPr>
            </a:pPr>
            <a:r>
              <a:rPr sz="1125" b="1" i="0">
                <a:solidFill>
                  <a:srgbClr val="6E6D67"/>
                </a:solidFill>
              </a:rPr>
              <a:t>screened places</a:t>
            </a:r>
          </a:p>
        </p:txBody>
      </p:sp>
      <p:sp>
        <p:nvSpPr>
          <p:cNvPr id="22" name="">
            <a:extLst xmlns:a="http://schemas.openxmlformats.org/drawingml/2006/main">
              <a:ext uri="{FF2B5EF4-FFF2-40B4-BE49-F238E27FC236}">
                <a16:creationId xmlns:a16="http://schemas.microsoft.com/office/drawing/2014/main" id="{D4578719-6D48-4C54-9686-86C4187129D0}"/>
              </a:ext>
            </a:extLst>
          </p:cNvPr>
          <p:cNvSpPr>
            <a:spLocks xmlns:a="http://schemas.openxmlformats.org/drawingml/2006/main" noGrp="1"/>
          </p:cNvSpPr>
          <p:nvPr/>
        </p:nvSpPr>
        <p:spPr>
          <a:xfrm xmlns:a="http://schemas.openxmlformats.org/drawingml/2006/main">
            <a:off x="2800350" y="4686300"/>
            <a:ext cx="1981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000" b="1" i="0">
                <a:solidFill>
                  <a:srgbClr val="168C70"/>
                </a:solidFill>
              </a:defRPr>
            </a:pPr>
            <a:r>
              <a:rPr sz="3000" b="1" i="0">
                <a:solidFill>
                  <a:srgbClr val="168C70"/>
                </a:solidFill>
              </a:rPr>
              <a:t>106</a:t>
            </a:r>
          </a:p>
        </p:txBody>
      </p:sp>
      <p:sp>
        <p:nvSpPr>
          <p:cNvPr id="23" name="">
            <a:extLst xmlns:a="http://schemas.openxmlformats.org/drawingml/2006/main">
              <a:ext uri="{FF2B5EF4-FFF2-40B4-BE49-F238E27FC236}">
                <a16:creationId xmlns:a16="http://schemas.microsoft.com/office/drawing/2014/main" id="{30E9FC64-7826-4B01-8B23-B4AE7E3401A2}"/>
              </a:ext>
            </a:extLst>
          </p:cNvPr>
          <p:cNvSpPr>
            <a:spLocks xmlns:a="http://schemas.openxmlformats.org/drawingml/2006/main" noGrp="1"/>
          </p:cNvSpPr>
          <p:nvPr/>
        </p:nvSpPr>
        <p:spPr>
          <a:xfrm xmlns:a="http://schemas.openxmlformats.org/drawingml/2006/main">
            <a:off x="2800350" y="5276850"/>
            <a:ext cx="1981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6E6D67"/>
                </a:solidFill>
              </a:defRPr>
            </a:pPr>
            <a:r>
              <a:rPr sz="1125" b="1" i="0">
                <a:solidFill>
                  <a:srgbClr val="6E6D67"/>
                </a:solidFill>
              </a:rPr>
              <a:t>weekly schedules</a:t>
            </a:r>
          </a:p>
        </p:txBody>
      </p:sp>
      <p:sp>
        <p:nvSpPr>
          <p:cNvPr id="24" name="">
            <a:extLst xmlns:a="http://schemas.openxmlformats.org/drawingml/2006/main">
              <a:ext uri="{FF2B5EF4-FFF2-40B4-BE49-F238E27FC236}">
                <a16:creationId xmlns:a16="http://schemas.microsoft.com/office/drawing/2014/main" id="{744001C6-6F98-452C-B4E5-D0B3E778D71D}"/>
              </a:ext>
            </a:extLst>
          </p:cNvPr>
          <p:cNvSpPr>
            <a:spLocks xmlns:a="http://schemas.openxmlformats.org/drawingml/2006/main" noGrp="1"/>
          </p:cNvSpPr>
          <p:nvPr/>
        </p:nvSpPr>
        <p:spPr>
          <a:xfrm xmlns:a="http://schemas.openxmlformats.org/drawingml/2006/main">
            <a:off x="4991100" y="4686300"/>
            <a:ext cx="1981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000" b="1" i="0">
                <a:solidFill>
                  <a:srgbClr val="EF765F"/>
                </a:solidFill>
              </a:defRPr>
            </a:pPr>
            <a:r>
              <a:rPr sz="3000" b="1" i="0">
                <a:solidFill>
                  <a:srgbClr val="EF765F"/>
                </a:solidFill>
              </a:rPr>
              <a:t>16</a:t>
            </a:r>
          </a:p>
        </p:txBody>
      </p:sp>
      <p:sp>
        <p:nvSpPr>
          <p:cNvPr id="25" name="">
            <a:extLst xmlns:a="http://schemas.openxmlformats.org/drawingml/2006/main">
              <a:ext uri="{FF2B5EF4-FFF2-40B4-BE49-F238E27FC236}">
                <a16:creationId xmlns:a16="http://schemas.microsoft.com/office/drawing/2014/main" id="{07AC13B0-265F-493C-B1AA-97F9A7CC691E}"/>
              </a:ext>
            </a:extLst>
          </p:cNvPr>
          <p:cNvSpPr>
            <a:spLocks xmlns:a="http://schemas.openxmlformats.org/drawingml/2006/main" noGrp="1"/>
          </p:cNvSpPr>
          <p:nvPr/>
        </p:nvSpPr>
        <p:spPr>
          <a:xfrm xmlns:a="http://schemas.openxmlformats.org/drawingml/2006/main">
            <a:off x="4991100" y="5276850"/>
            <a:ext cx="1981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6E6D67"/>
                </a:solidFill>
              </a:defRPr>
            </a:pPr>
            <a:r>
              <a:rPr sz="1125" b="1" i="0">
                <a:solidFill>
                  <a:srgbClr val="6E6D67"/>
                </a:solidFill>
              </a:rPr>
              <a:t>current programs</a:t>
            </a:r>
          </a:p>
        </p:txBody>
      </p:sp>
      <p:sp>
        <p:nvSpPr>
          <p:cNvPr id="26" name="">
            <a:extLst xmlns:a="http://schemas.openxmlformats.org/drawingml/2006/main">
              <a:ext uri="{FF2B5EF4-FFF2-40B4-BE49-F238E27FC236}">
                <a16:creationId xmlns:a16="http://schemas.microsoft.com/office/drawing/2014/main" id="{8BF13825-5C44-4340-807D-E6E4E9E8EAF0}"/>
              </a:ext>
            </a:extLst>
          </p:cNvPr>
          <p:cNvSpPr>
            <a:spLocks xmlns:a="http://schemas.openxmlformats.org/drawingml/2006/main" noGrp="1"/>
          </p:cNvSpPr>
          <p:nvPr/>
        </p:nvSpPr>
        <p:spPr>
          <a:xfrm xmlns:a="http://schemas.openxmlformats.org/drawingml/2006/main">
            <a:off x="7181850" y="4686300"/>
            <a:ext cx="1981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000" b="1" i="0">
                <a:solidFill>
                  <a:srgbClr val="365CF5"/>
                </a:solidFill>
              </a:defRPr>
            </a:pPr>
            <a:r>
              <a:rPr sz="3000" b="1" i="0">
                <a:solidFill>
                  <a:srgbClr val="365CF5"/>
                </a:solidFill>
              </a:rPr>
              <a:t>1,002</a:t>
            </a:r>
          </a:p>
        </p:txBody>
      </p:sp>
      <p:sp>
        <p:nvSpPr>
          <p:cNvPr id="27" name="">
            <a:extLst xmlns:a="http://schemas.openxmlformats.org/drawingml/2006/main">
              <a:ext uri="{FF2B5EF4-FFF2-40B4-BE49-F238E27FC236}">
                <a16:creationId xmlns:a16="http://schemas.microsoft.com/office/drawing/2014/main" id="{8A8940CE-3544-4B90-AF20-C6FE684439E0}"/>
              </a:ext>
            </a:extLst>
          </p:cNvPr>
          <p:cNvSpPr>
            <a:spLocks xmlns:a="http://schemas.openxmlformats.org/drawingml/2006/main" noGrp="1"/>
          </p:cNvSpPr>
          <p:nvPr/>
        </p:nvSpPr>
        <p:spPr>
          <a:xfrm xmlns:a="http://schemas.openxmlformats.org/drawingml/2006/main">
            <a:off x="7181850" y="5276850"/>
            <a:ext cx="1981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6E6D67"/>
                </a:solidFill>
              </a:defRPr>
            </a:pPr>
            <a:r>
              <a:rPr sz="1125" b="1" i="0">
                <a:solidFill>
                  <a:srgbClr val="6E6D67"/>
                </a:solidFill>
              </a:rPr>
              <a:t>station-line nodes</a:t>
            </a:r>
          </a:p>
        </p:txBody>
      </p:sp>
      <p:sp>
        <p:nvSpPr>
          <p:cNvPr id="28" name="">
            <a:extLst xmlns:a="http://schemas.openxmlformats.org/drawingml/2006/main">
              <a:ext uri="{FF2B5EF4-FFF2-40B4-BE49-F238E27FC236}">
                <a16:creationId xmlns:a16="http://schemas.microsoft.com/office/drawing/2014/main" id="{6BCF52FF-A541-481A-99DB-EB0C1FF679C1}"/>
              </a:ext>
            </a:extLst>
          </p:cNvPr>
          <p:cNvSpPr>
            <a:spLocks xmlns:a="http://schemas.openxmlformats.org/drawingml/2006/main" noGrp="1"/>
          </p:cNvSpPr>
          <p:nvPr/>
        </p:nvSpPr>
        <p:spPr>
          <a:xfrm xmlns:a="http://schemas.openxmlformats.org/drawingml/2006/main">
            <a:off x="9372600" y="4686300"/>
            <a:ext cx="1981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000" b="1" i="0">
                <a:solidFill>
                  <a:srgbClr val="111111"/>
                </a:solidFill>
              </a:defRPr>
            </a:pPr>
            <a:r>
              <a:rPr sz="3000" b="1" i="0">
                <a:solidFill>
                  <a:srgbClr val="111111"/>
                </a:solidFill>
              </a:rPr>
              <a:t>4,337</a:t>
            </a:r>
          </a:p>
        </p:txBody>
      </p:sp>
      <p:sp>
        <p:nvSpPr>
          <p:cNvPr id="29" name="">
            <a:extLst xmlns:a="http://schemas.openxmlformats.org/drawingml/2006/main">
              <a:ext uri="{FF2B5EF4-FFF2-40B4-BE49-F238E27FC236}">
                <a16:creationId xmlns:a16="http://schemas.microsoft.com/office/drawing/2014/main" id="{A4DE6CF1-5A44-433D-8A02-BD560BDA6A0D}"/>
              </a:ext>
            </a:extLst>
          </p:cNvPr>
          <p:cNvSpPr>
            <a:spLocks xmlns:a="http://schemas.openxmlformats.org/drawingml/2006/main" noGrp="1"/>
          </p:cNvSpPr>
          <p:nvPr/>
        </p:nvSpPr>
        <p:spPr>
          <a:xfrm xmlns:a="http://schemas.openxmlformats.org/drawingml/2006/main">
            <a:off x="9372600" y="5276850"/>
            <a:ext cx="1981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6E6D67"/>
                </a:solidFill>
              </a:defRPr>
            </a:pPr>
            <a:r>
              <a:rPr sz="1125" b="1" i="0">
                <a:solidFill>
                  <a:srgbClr val="6E6D67"/>
                </a:solidFill>
              </a:rPr>
              <a:t>weighted edges</a:t>
            </a:r>
          </a:p>
        </p:txBody>
      </p:sp>
      <p:sp>
        <p:nvSpPr>
          <p:cNvPr id="30" name="">
            <a:extLst xmlns:a="http://schemas.openxmlformats.org/drawingml/2006/main">
              <a:ext uri="{FF2B5EF4-FFF2-40B4-BE49-F238E27FC236}">
                <a16:creationId xmlns:a16="http://schemas.microsoft.com/office/drawing/2014/main" id="{E6D2966B-FB4C-4FA4-AF50-EF5BB336D3E0}"/>
              </a:ext>
            </a:extLst>
          </p:cNvPr>
          <p:cNvSpPr>
            <a:spLocks xmlns:a="http://schemas.openxmlformats.org/drawingml/2006/main" noGrp="1"/>
          </p:cNvSpPr>
          <p:nvPr/>
        </p:nvSpPr>
        <p:spPr>
          <a:xfrm xmlns:a="http://schemas.openxmlformats.org/drawingml/2006/main">
            <a:off x="609600" y="5962650"/>
            <a:ext cx="10972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i="0">
                <a:solidFill>
                  <a:srgbClr val="6E6D67"/>
                </a:solidFill>
              </a:defRPr>
            </a:pPr>
            <a:r>
              <a:rPr sz="1125" b="0" i="0">
                <a:solidFill>
                  <a:srgbClr val="6E6D67"/>
                </a:solidFill>
              </a:rPr>
              <a:t>Typical weekday model, not live MTA service</a:t>
            </a:r>
          </a:p>
        </p:txBody>
      </p:sp>
      <p:sp>
        <p:nvSpPr>
          <p:cNvPr id="31" name="footer-label">
            <a:extLst xmlns:a="http://schemas.openxmlformats.org/drawingml/2006/main">
              <a:ext uri="{FF2B5EF4-FFF2-40B4-BE49-F238E27FC236}">
                <a16:creationId xmlns:a16="http://schemas.microsoft.com/office/drawing/2014/main" id="{9709CDB9-B396-4D7E-B001-8EA737246DF5}"/>
              </a:ext>
            </a:extLst>
          </p:cNvPr>
          <p:cNvSpPr>
            <a:spLocks xmlns:a="http://schemas.openxmlformats.org/drawingml/2006/main" noGrp="1"/>
          </p:cNvSpPr>
          <p:nvPr/>
        </p:nvSpPr>
        <p:spPr>
          <a:xfrm xmlns:a="http://schemas.openxmlformats.org/drawingml/2006/main">
            <a:off x="609600" y="6515100"/>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1" i="0">
                <a:solidFill>
                  <a:srgbClr val="6E6D67"/>
                </a:solidFill>
              </a:defRPr>
            </a:pPr>
            <a:r>
              <a:rPr sz="750" b="1" i="0">
                <a:solidFill>
                  <a:srgbClr val="6E6D67"/>
                </a:solidFill>
              </a:rPr>
              <a:t>AFTER / SIX NYC</a:t>
            </a:r>
          </a:p>
        </p:txBody>
      </p:sp>
      <p:sp>
        <p:nvSpPr>
          <p:cNvPr id="32" name="footer-number">
            <a:extLst xmlns:a="http://schemas.openxmlformats.org/drawingml/2006/main">
              <a:ext uri="{FF2B5EF4-FFF2-40B4-BE49-F238E27FC236}">
                <a16:creationId xmlns:a16="http://schemas.microsoft.com/office/drawing/2014/main" id="{81559AE8-3432-49AB-887C-363B7D51E609}"/>
              </a:ext>
            </a:extLst>
          </p:cNvPr>
          <p:cNvSpPr>
            <a:spLocks xmlns:a="http://schemas.openxmlformats.org/drawingml/2006/main" noGrp="1"/>
          </p:cNvSpPr>
          <p:nvPr/>
        </p:nvSpPr>
        <p:spPr>
          <a:xfrm xmlns:a="http://schemas.openxmlformats.org/drawingml/2006/main">
            <a:off x="10972800" y="6515100"/>
            <a:ext cx="609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6E6D67"/>
                </a:solidFill>
              </a:defRPr>
            </a:pPr>
            <a:r>
              <a:rPr sz="750" b="1" i="0">
                <a:solidFill>
                  <a:srgbClr val="6E6D67"/>
                </a:solidFill>
              </a:rPr>
              <a:t>03</a:t>
            </a:r>
          </a:p>
        </p:txBody>
      </p:sp>
    </p:spTree>
    <p:extLst>
      <p:ext uri="{BB962C8B-B14F-4D97-AF65-F5344CB8AC3E}">
        <p14:creationId xmlns:p14="http://schemas.microsoft.com/office/powerpoint/2010/main" val="1990967450"/>
      </p:ext>
    </p:extLst>
  </p:cSld>
</p:sld>
</file>

<file path=ppt/slides/slide4.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22" name="slide-kicker">
            <a:extLst xmlns:a="http://schemas.openxmlformats.org/drawingml/2006/main">
              <a:ext uri="{FF2B5EF4-FFF2-40B4-BE49-F238E27FC236}">
                <a16:creationId xmlns:a16="http://schemas.microsoft.com/office/drawing/2014/main" id="{52DDCFCA-1E04-48A8-A8D2-9837DC7EB977}"/>
              </a:ext>
            </a:extLst>
          </p:cNvPr>
          <p:cNvSpPr>
            <a:spLocks xmlns:a="http://schemas.openxmlformats.org/drawingml/2006/main" noGrp="1"/>
          </p:cNvSpPr>
          <p:nvPr/>
        </p:nvSpPr>
        <p:spPr>
          <a:xfrm xmlns:a="http://schemas.openxmlformats.org/drawingml/2006/main">
            <a:off x="609600" y="3619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168C70"/>
                </a:solidFill>
              </a:defRPr>
            </a:pPr>
            <a:r>
              <a:rPr sz="975" b="1" i="0">
                <a:solidFill>
                  <a:srgbClr val="168C70"/>
                </a:solidFill>
              </a:rPr>
              <a:t>INTERACTIVE PRODUCT</a:t>
            </a:r>
          </a:p>
        </p:txBody>
      </p:sp>
      <p:sp>
        <p:nvSpPr>
          <p:cNvPr id="2" name="slide-title">
            <a:extLst xmlns:a="http://schemas.openxmlformats.org/drawingml/2006/main">
              <a:ext uri="{FF2B5EF4-FFF2-40B4-BE49-F238E27FC236}">
                <a16:creationId xmlns:a16="http://schemas.microsoft.com/office/drawing/2014/main" id="{F3C0D0C6-B03D-4F2C-BC60-4EF648E925C6}"/>
              </a:ext>
            </a:extLst>
          </p:cNvPr>
          <p:cNvSpPr>
            <a:spLocks xmlns:a="http://schemas.openxmlformats.org/drawingml/2006/main" noGrp="1"/>
          </p:cNvSpPr>
          <p:nvPr/>
        </p:nvSpPr>
        <p:spPr>
          <a:xfrm xmlns:a="http://schemas.openxmlformats.org/drawingml/2006/main">
            <a:off x="609600" y="6667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i="0">
                <a:solidFill>
                  <a:srgbClr val="111111"/>
                </a:solidFill>
              </a:defRPr>
            </a:pPr>
            <a:r>
              <a:rPr sz="3150" b="1" i="0">
                <a:solidFill>
                  <a:srgbClr val="111111"/>
                </a:solidFill>
              </a:rPr>
              <a:t>The interface lets each user change the question</a:t>
            </a:r>
          </a:p>
        </p:txBody>
      </p:sp>
      <p:sp>
        <p:nvSpPr>
          <p:cNvPr id="3" name="">
            <a:extLst xmlns:a="http://schemas.openxmlformats.org/drawingml/2006/main">
              <a:ext uri="{FF2B5EF4-FFF2-40B4-BE49-F238E27FC236}">
                <a16:creationId xmlns:a16="http://schemas.microsoft.com/office/drawing/2014/main" id="{188BCFF5-1F4E-44ED-A552-08161C3559C6}"/>
              </a:ext>
            </a:extLst>
          </p:cNvPr>
          <p:cNvSpPr>
            <a:spLocks xmlns:a="http://schemas.openxmlformats.org/drawingml/2006/main" noGrp="1"/>
          </p:cNvSpPr>
          <p:nvPr/>
        </p:nvSpPr>
        <p:spPr>
          <a:xfrm xmlns:a="http://schemas.openxmlformats.org/drawingml/2006/main">
            <a:off x="609600" y="1390650"/>
            <a:ext cx="10972800" cy="95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9196E4B-3C21-4EF2-BF5C-9326B309BC96}"/>
              </a:ext>
            </a:extLst>
          </p:cNvPr>
          <p:cNvSpPr>
            <a:spLocks xmlns:a="http://schemas.openxmlformats.org/drawingml/2006/main" noGrp="1"/>
          </p:cNvSpPr>
          <p:nvPr/>
        </p:nvSpPr>
        <p:spPr>
          <a:xfrm xmlns:a="http://schemas.openxmlformats.org/drawingml/2006/main">
            <a:off x="514350" y="1657350"/>
            <a:ext cx="7715250" cy="441960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2de2838b25bf4416"/>
          <a:stretch xmlns:a="http://schemas.openxmlformats.org/drawingml/2006/main"/>
        </p:blipFill>
        <p:spPr>
          <a:xfrm xmlns:a="http://schemas.openxmlformats.org/drawingml/2006/main">
            <a:off x="629708" y="1771650"/>
            <a:ext cx="7484533" cy="42100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B169B29-D78A-49E4-B380-89FBACCBFFB8}"/>
              </a:ext>
            </a:extLst>
          </p:cNvPr>
          <p:cNvSpPr>
            <a:spLocks xmlns:a="http://schemas.openxmlformats.org/drawingml/2006/main" noGrp="1"/>
          </p:cNvSpPr>
          <p:nvPr/>
        </p:nvSpPr>
        <p:spPr>
          <a:xfrm xmlns:a="http://schemas.openxmlformats.org/drawingml/2006/main">
            <a:off x="8591550" y="175260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365CF5"/>
                </a:solidFill>
              </a:defRPr>
            </a:pPr>
            <a:r>
              <a:rPr sz="1575" b="1" i="0">
                <a:solidFill>
                  <a:srgbClr val="365CF5"/>
                </a:solidFill>
              </a:rPr>
              <a:t>01</a:t>
            </a:r>
          </a:p>
        </p:txBody>
      </p:sp>
      <p:sp>
        <p:nvSpPr>
          <p:cNvPr id="7" name="">
            <a:extLst xmlns:a="http://schemas.openxmlformats.org/drawingml/2006/main">
              <a:ext uri="{FF2B5EF4-FFF2-40B4-BE49-F238E27FC236}">
                <a16:creationId xmlns:a16="http://schemas.microsoft.com/office/drawing/2014/main" id="{6968BF63-8AFF-40DE-AD14-7BB65B826466}"/>
              </a:ext>
            </a:extLst>
          </p:cNvPr>
          <p:cNvSpPr>
            <a:spLocks xmlns:a="http://schemas.openxmlformats.org/drawingml/2006/main" noGrp="1"/>
          </p:cNvSpPr>
          <p:nvPr/>
        </p:nvSpPr>
        <p:spPr>
          <a:xfrm xmlns:a="http://schemas.openxmlformats.org/drawingml/2006/main">
            <a:off x="9124950" y="1762125"/>
            <a:ext cx="2343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11111"/>
                </a:solidFill>
              </a:defRPr>
            </a:pPr>
            <a:r>
              <a:rPr sz="1350" b="1" i="0">
                <a:solidFill>
                  <a:srgbClr val="111111"/>
                </a:solidFill>
              </a:rPr>
              <a:t>ANY ORIGIN</a:t>
            </a:r>
          </a:p>
        </p:txBody>
      </p:sp>
      <p:sp>
        <p:nvSpPr>
          <p:cNvPr id="8" name="">
            <a:extLst xmlns:a="http://schemas.openxmlformats.org/drawingml/2006/main">
              <a:ext uri="{FF2B5EF4-FFF2-40B4-BE49-F238E27FC236}">
                <a16:creationId xmlns:a16="http://schemas.microsoft.com/office/drawing/2014/main" id="{4B5C390D-0F3A-496F-ADBE-BC5E50492D6C}"/>
              </a:ext>
            </a:extLst>
          </p:cNvPr>
          <p:cNvSpPr>
            <a:spLocks xmlns:a="http://schemas.openxmlformats.org/drawingml/2006/main" noGrp="1"/>
          </p:cNvSpPr>
          <p:nvPr/>
        </p:nvSpPr>
        <p:spPr>
          <a:xfrm xmlns:a="http://schemas.openxmlformats.org/drawingml/2006/main">
            <a:off x="9124950" y="2066925"/>
            <a:ext cx="23431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6E6D67"/>
                </a:solidFill>
              </a:defRPr>
            </a:pPr>
            <a:r>
              <a:rPr sz="1200" b="0" i="0">
                <a:solidFill>
                  <a:srgbClr val="6E6D67"/>
                </a:solidFill>
              </a:rPr>
              <a:t>Search an NYC address or choose a point.</a:t>
            </a:r>
          </a:p>
        </p:txBody>
      </p:sp>
      <p:sp>
        <p:nvSpPr>
          <p:cNvPr id="9" name="">
            <a:extLst xmlns:a="http://schemas.openxmlformats.org/drawingml/2006/main">
              <a:ext uri="{FF2B5EF4-FFF2-40B4-BE49-F238E27FC236}">
                <a16:creationId xmlns:a16="http://schemas.microsoft.com/office/drawing/2014/main" id="{2298C506-6D30-4456-969E-747FE838036B}"/>
              </a:ext>
            </a:extLst>
          </p:cNvPr>
          <p:cNvSpPr>
            <a:spLocks xmlns:a="http://schemas.openxmlformats.org/drawingml/2006/main" noGrp="1"/>
          </p:cNvSpPr>
          <p:nvPr/>
        </p:nvSpPr>
        <p:spPr>
          <a:xfrm xmlns:a="http://schemas.openxmlformats.org/drawingml/2006/main">
            <a:off x="8591550" y="274320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168C70"/>
                </a:solidFill>
              </a:defRPr>
            </a:pPr>
            <a:r>
              <a:rPr sz="1575" b="1" i="0">
                <a:solidFill>
                  <a:srgbClr val="168C70"/>
                </a:solidFill>
              </a:rPr>
              <a:t>02</a:t>
            </a:r>
          </a:p>
        </p:txBody>
      </p:sp>
      <p:sp>
        <p:nvSpPr>
          <p:cNvPr id="10" name="">
            <a:extLst xmlns:a="http://schemas.openxmlformats.org/drawingml/2006/main">
              <a:ext uri="{FF2B5EF4-FFF2-40B4-BE49-F238E27FC236}">
                <a16:creationId xmlns:a16="http://schemas.microsoft.com/office/drawing/2014/main" id="{D1423309-BF8D-4E22-96A2-EB09F5EE263A}"/>
              </a:ext>
            </a:extLst>
          </p:cNvPr>
          <p:cNvSpPr>
            <a:spLocks xmlns:a="http://schemas.openxmlformats.org/drawingml/2006/main" noGrp="1"/>
          </p:cNvSpPr>
          <p:nvPr/>
        </p:nvSpPr>
        <p:spPr>
          <a:xfrm xmlns:a="http://schemas.openxmlformats.org/drawingml/2006/main">
            <a:off x="9124950" y="2752725"/>
            <a:ext cx="2343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11111"/>
                </a:solidFill>
              </a:defRPr>
            </a:pPr>
            <a:r>
              <a:rPr sz="1350" b="1" i="0">
                <a:solidFill>
                  <a:srgbClr val="111111"/>
                </a:solidFill>
              </a:rPr>
              <a:t>OPEN AT ARRIVAL</a:t>
            </a:r>
          </a:p>
        </p:txBody>
      </p:sp>
      <p:sp>
        <p:nvSpPr>
          <p:cNvPr id="11" name="">
            <a:extLst xmlns:a="http://schemas.openxmlformats.org/drawingml/2006/main">
              <a:ext uri="{FF2B5EF4-FFF2-40B4-BE49-F238E27FC236}">
                <a16:creationId xmlns:a16="http://schemas.microsoft.com/office/drawing/2014/main" id="{C50350B5-2E6E-4172-A3C9-322C7205322D}"/>
              </a:ext>
            </a:extLst>
          </p:cNvPr>
          <p:cNvSpPr>
            <a:spLocks xmlns:a="http://schemas.openxmlformats.org/drawingml/2006/main" noGrp="1"/>
          </p:cNvSpPr>
          <p:nvPr/>
        </p:nvSpPr>
        <p:spPr>
          <a:xfrm xmlns:a="http://schemas.openxmlformats.org/drawingml/2006/main">
            <a:off x="9124950" y="3057525"/>
            <a:ext cx="23431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6E6D67"/>
                </a:solidFill>
              </a:defRPr>
            </a:pPr>
            <a:r>
              <a:rPr sz="1200" b="0" i="0">
                <a:solidFill>
                  <a:srgbClr val="6E6D67"/>
                </a:solidFill>
              </a:rPr>
              <a:t>Every destination gets its own arrival time.</a:t>
            </a:r>
          </a:p>
        </p:txBody>
      </p:sp>
      <p:sp>
        <p:nvSpPr>
          <p:cNvPr id="12" name="">
            <a:extLst xmlns:a="http://schemas.openxmlformats.org/drawingml/2006/main">
              <a:ext uri="{FF2B5EF4-FFF2-40B4-BE49-F238E27FC236}">
                <a16:creationId xmlns:a16="http://schemas.microsoft.com/office/drawing/2014/main" id="{DAC4E2E9-CDB6-4791-A75F-02398B9BCDF7}"/>
              </a:ext>
            </a:extLst>
          </p:cNvPr>
          <p:cNvSpPr>
            <a:spLocks xmlns:a="http://schemas.openxmlformats.org/drawingml/2006/main" noGrp="1"/>
          </p:cNvSpPr>
          <p:nvPr/>
        </p:nvSpPr>
        <p:spPr>
          <a:xfrm xmlns:a="http://schemas.openxmlformats.org/drawingml/2006/main">
            <a:off x="8591550" y="373380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DF4F8B"/>
                </a:solidFill>
              </a:defRPr>
            </a:pPr>
            <a:r>
              <a:rPr sz="1575" b="1" i="0">
                <a:solidFill>
                  <a:srgbClr val="DF4F8B"/>
                </a:solidFill>
              </a:rPr>
              <a:t>03</a:t>
            </a:r>
          </a:p>
        </p:txBody>
      </p:sp>
      <p:sp>
        <p:nvSpPr>
          <p:cNvPr id="13" name="">
            <a:extLst xmlns:a="http://schemas.openxmlformats.org/drawingml/2006/main">
              <a:ext uri="{FF2B5EF4-FFF2-40B4-BE49-F238E27FC236}">
                <a16:creationId xmlns:a16="http://schemas.microsoft.com/office/drawing/2014/main" id="{510D055B-3455-464F-B5BE-584E3B4416BD}"/>
              </a:ext>
            </a:extLst>
          </p:cNvPr>
          <p:cNvSpPr>
            <a:spLocks xmlns:a="http://schemas.openxmlformats.org/drawingml/2006/main" noGrp="1"/>
          </p:cNvSpPr>
          <p:nvPr/>
        </p:nvSpPr>
        <p:spPr>
          <a:xfrm xmlns:a="http://schemas.openxmlformats.org/drawingml/2006/main">
            <a:off x="9124950" y="3743325"/>
            <a:ext cx="2343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11111"/>
                </a:solidFill>
              </a:defRPr>
            </a:pPr>
            <a:r>
              <a:rPr sz="1350" b="1" i="0">
                <a:solidFill>
                  <a:srgbClr val="111111"/>
                </a:solidFill>
              </a:rPr>
              <a:t>PERSONAL PROFILE</a:t>
            </a:r>
          </a:p>
        </p:txBody>
      </p:sp>
      <p:sp>
        <p:nvSpPr>
          <p:cNvPr id="14" name="">
            <a:extLst xmlns:a="http://schemas.openxmlformats.org/drawingml/2006/main">
              <a:ext uri="{FF2B5EF4-FFF2-40B4-BE49-F238E27FC236}">
                <a16:creationId xmlns:a16="http://schemas.microsoft.com/office/drawing/2014/main" id="{EDB388F9-2F36-46DB-8A50-3BD957CDC04D}"/>
              </a:ext>
            </a:extLst>
          </p:cNvPr>
          <p:cNvSpPr>
            <a:spLocks xmlns:a="http://schemas.openxmlformats.org/drawingml/2006/main" noGrp="1"/>
          </p:cNvSpPr>
          <p:nvPr/>
        </p:nvSpPr>
        <p:spPr>
          <a:xfrm xmlns:a="http://schemas.openxmlformats.org/drawingml/2006/main">
            <a:off x="9124950" y="4048125"/>
            <a:ext cx="23431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6E6D67"/>
                </a:solidFill>
              </a:defRPr>
            </a:pPr>
            <a:r>
              <a:rPr sz="1200" b="0" i="0">
                <a:solidFill>
                  <a:srgbClr val="6E6D67"/>
                </a:solidFill>
              </a:rPr>
              <a:t>Interests, budget, trip limit, and mobility.</a:t>
            </a:r>
          </a:p>
        </p:txBody>
      </p:sp>
      <p:sp>
        <p:nvSpPr>
          <p:cNvPr id="15" name="">
            <a:extLst xmlns:a="http://schemas.openxmlformats.org/drawingml/2006/main">
              <a:ext uri="{FF2B5EF4-FFF2-40B4-BE49-F238E27FC236}">
                <a16:creationId xmlns:a16="http://schemas.microsoft.com/office/drawing/2014/main" id="{1C84E60F-691F-4104-B4B3-381353B8E843}"/>
              </a:ext>
            </a:extLst>
          </p:cNvPr>
          <p:cNvSpPr>
            <a:spLocks xmlns:a="http://schemas.openxmlformats.org/drawingml/2006/main" noGrp="1"/>
          </p:cNvSpPr>
          <p:nvPr/>
        </p:nvSpPr>
        <p:spPr>
          <a:xfrm xmlns:a="http://schemas.openxmlformats.org/drawingml/2006/main">
            <a:off x="8591550" y="472440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EF765F"/>
                </a:solidFill>
              </a:defRPr>
            </a:pPr>
            <a:r>
              <a:rPr sz="1575" b="1" i="0">
                <a:solidFill>
                  <a:srgbClr val="EF765F"/>
                </a:solidFill>
              </a:rPr>
              <a:t>04</a:t>
            </a:r>
          </a:p>
        </p:txBody>
      </p:sp>
      <p:sp>
        <p:nvSpPr>
          <p:cNvPr id="16" name="">
            <a:extLst xmlns:a="http://schemas.openxmlformats.org/drawingml/2006/main">
              <a:ext uri="{FF2B5EF4-FFF2-40B4-BE49-F238E27FC236}">
                <a16:creationId xmlns:a16="http://schemas.microsoft.com/office/drawing/2014/main" id="{C9248B38-8317-4B92-9BAD-004533EA0931}"/>
              </a:ext>
            </a:extLst>
          </p:cNvPr>
          <p:cNvSpPr>
            <a:spLocks xmlns:a="http://schemas.openxmlformats.org/drawingml/2006/main" noGrp="1"/>
          </p:cNvSpPr>
          <p:nvPr/>
        </p:nvSpPr>
        <p:spPr>
          <a:xfrm xmlns:a="http://schemas.openxmlformats.org/drawingml/2006/main">
            <a:off x="9124950" y="4733925"/>
            <a:ext cx="2343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11111"/>
                </a:solidFill>
              </a:defRPr>
            </a:pPr>
            <a:r>
              <a:rPr sz="1350" b="1" i="0">
                <a:solidFill>
                  <a:srgbClr val="111111"/>
                </a:solidFill>
              </a:rPr>
              <a:t>ON NOW</a:t>
            </a:r>
          </a:p>
        </p:txBody>
      </p:sp>
      <p:sp>
        <p:nvSpPr>
          <p:cNvPr id="17" name="">
            <a:extLst xmlns:a="http://schemas.openxmlformats.org/drawingml/2006/main">
              <a:ext uri="{FF2B5EF4-FFF2-40B4-BE49-F238E27FC236}">
                <a16:creationId xmlns:a16="http://schemas.microsoft.com/office/drawing/2014/main" id="{C077D4F0-AD49-47B9-87B8-4648C5008D58}"/>
              </a:ext>
            </a:extLst>
          </p:cNvPr>
          <p:cNvSpPr>
            <a:spLocks xmlns:a="http://schemas.openxmlformats.org/drawingml/2006/main" noGrp="1"/>
          </p:cNvSpPr>
          <p:nvPr/>
        </p:nvSpPr>
        <p:spPr>
          <a:xfrm xmlns:a="http://schemas.openxmlformats.org/drawingml/2006/main">
            <a:off x="9124950" y="5038725"/>
            <a:ext cx="23431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6E6D67"/>
                </a:solidFill>
              </a:defRPr>
            </a:pPr>
            <a:r>
              <a:rPr sz="1200" b="0" i="0">
                <a:solidFill>
                  <a:srgbClr val="6E6D67"/>
                </a:solidFill>
              </a:rPr>
              <a:t>Date-checked programs link to official pages.</a:t>
            </a:r>
          </a:p>
        </p:txBody>
      </p:sp>
      <p:sp>
        <p:nvSpPr>
          <p:cNvPr id="18" name="">
            <a:extLst xmlns:a="http://schemas.openxmlformats.org/drawingml/2006/main">
              <a:ext uri="{FF2B5EF4-FFF2-40B4-BE49-F238E27FC236}">
                <a16:creationId xmlns:a16="http://schemas.microsoft.com/office/drawing/2014/main" id="{0A0DD354-6220-4384-A801-1C290A492379}"/>
              </a:ext>
            </a:extLst>
          </p:cNvPr>
          <p:cNvSpPr>
            <a:spLocks xmlns:a="http://schemas.openxmlformats.org/drawingml/2006/main" noGrp="1"/>
          </p:cNvSpPr>
          <p:nvPr/>
        </p:nvSpPr>
        <p:spPr>
          <a:xfrm xmlns:a="http://schemas.openxmlformats.org/drawingml/2006/main">
            <a:off x="8591550" y="5753100"/>
            <a:ext cx="2876550" cy="9525"/>
          </a:xfrm>
          <a:prstGeom xmlns:a="http://schemas.openxmlformats.org/drawingml/2006/main" prst="rect">
            <a:avLst/>
          </a:prstGeom>
          <a:solidFill xmlns:a="http://schemas.openxmlformats.org/drawingml/2006/main">
            <a:srgbClr val="E1DFD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EC4756D-5D52-423F-893A-D037CFBDE668}"/>
              </a:ext>
            </a:extLst>
          </p:cNvPr>
          <p:cNvSpPr>
            <a:spLocks xmlns:a="http://schemas.openxmlformats.org/drawingml/2006/main" noGrp="1"/>
          </p:cNvSpPr>
          <p:nvPr/>
        </p:nvSpPr>
        <p:spPr>
          <a:xfrm xmlns:a="http://schemas.openxmlformats.org/drawingml/2006/main">
            <a:off x="8591550" y="5905500"/>
            <a:ext cx="2876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6E6D67"/>
                </a:solidFill>
              </a:defRPr>
            </a:pPr>
            <a:r>
              <a:rPr sz="1050" b="0" i="0">
                <a:solidFill>
                  <a:srgbClr val="6E6D67"/>
                </a:solidFill>
              </a:rPr>
              <a:t>Prototype profiles and saved places stay in the browser; no login is required.</a:t>
            </a:r>
          </a:p>
        </p:txBody>
      </p:sp>
      <p:sp>
        <p:nvSpPr>
          <p:cNvPr id="20" name="footer-label">
            <a:extLst xmlns:a="http://schemas.openxmlformats.org/drawingml/2006/main">
              <a:ext uri="{FF2B5EF4-FFF2-40B4-BE49-F238E27FC236}">
                <a16:creationId xmlns:a16="http://schemas.microsoft.com/office/drawing/2014/main" id="{A3257175-DCC1-4FA3-8AB5-D0BFBFEFCE4D}"/>
              </a:ext>
            </a:extLst>
          </p:cNvPr>
          <p:cNvSpPr>
            <a:spLocks xmlns:a="http://schemas.openxmlformats.org/drawingml/2006/main" noGrp="1"/>
          </p:cNvSpPr>
          <p:nvPr/>
        </p:nvSpPr>
        <p:spPr>
          <a:xfrm xmlns:a="http://schemas.openxmlformats.org/drawingml/2006/main">
            <a:off x="609600" y="6515100"/>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1" i="0">
                <a:solidFill>
                  <a:srgbClr val="6E6D67"/>
                </a:solidFill>
              </a:defRPr>
            </a:pPr>
            <a:r>
              <a:rPr sz="750" b="1" i="0">
                <a:solidFill>
                  <a:srgbClr val="6E6D67"/>
                </a:solidFill>
              </a:rPr>
              <a:t>AFTER / SIX NYC</a:t>
            </a:r>
          </a:p>
        </p:txBody>
      </p:sp>
      <p:sp>
        <p:nvSpPr>
          <p:cNvPr id="21" name="footer-number">
            <a:extLst xmlns:a="http://schemas.openxmlformats.org/drawingml/2006/main">
              <a:ext uri="{FF2B5EF4-FFF2-40B4-BE49-F238E27FC236}">
                <a16:creationId xmlns:a16="http://schemas.microsoft.com/office/drawing/2014/main" id="{C48D9F8F-5725-491C-AD37-DB30AA56CFD6}"/>
              </a:ext>
            </a:extLst>
          </p:cNvPr>
          <p:cNvSpPr>
            <a:spLocks xmlns:a="http://schemas.openxmlformats.org/drawingml/2006/main" noGrp="1"/>
          </p:cNvSpPr>
          <p:nvPr/>
        </p:nvSpPr>
        <p:spPr>
          <a:xfrm xmlns:a="http://schemas.openxmlformats.org/drawingml/2006/main">
            <a:off x="10972800" y="6515100"/>
            <a:ext cx="609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6E6D67"/>
                </a:solidFill>
              </a:defRPr>
            </a:pPr>
            <a:r>
              <a:rPr sz="750" b="1" i="0">
                <a:solidFill>
                  <a:srgbClr val="6E6D67"/>
                </a:solidFill>
              </a:rPr>
              <a:t>04</a:t>
            </a:r>
          </a:p>
        </p:txBody>
      </p:sp>
    </p:spTree>
    <p:extLst>
      <p:ext uri="{BB962C8B-B14F-4D97-AF65-F5344CB8AC3E}">
        <p14:creationId xmlns:p14="http://schemas.microsoft.com/office/powerpoint/2010/main" val="1884545436"/>
      </p:ext>
    </p:extLst>
  </p:cSld>
</p:sld>
</file>

<file path=ppt/slides/slide5.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6" name="slide-kicker">
            <a:extLst xmlns:a="http://schemas.openxmlformats.org/drawingml/2006/main">
              <a:ext uri="{FF2B5EF4-FFF2-40B4-BE49-F238E27FC236}">
                <a16:creationId xmlns:a16="http://schemas.microsoft.com/office/drawing/2014/main" id="{20D8E20D-D612-45D6-A161-621DEE2180E2}"/>
              </a:ext>
            </a:extLst>
          </p:cNvPr>
          <p:cNvSpPr>
            <a:spLocks xmlns:a="http://schemas.openxmlformats.org/drawingml/2006/main" noGrp="1"/>
          </p:cNvSpPr>
          <p:nvPr/>
        </p:nvSpPr>
        <p:spPr>
          <a:xfrm xmlns:a="http://schemas.openxmlformats.org/drawingml/2006/main">
            <a:off x="609600" y="3619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168C70"/>
                </a:solidFill>
              </a:defRPr>
            </a:pPr>
            <a:r>
              <a:rPr sz="975" b="1" i="0">
                <a:solidFill>
                  <a:srgbClr val="168C70"/>
                </a:solidFill>
              </a:rPr>
              <a:t>WHAT THE MODEL REVEALS</a:t>
            </a:r>
          </a:p>
        </p:txBody>
      </p:sp>
      <p:sp>
        <p:nvSpPr>
          <p:cNvPr id="2" name="slide-title">
            <a:extLst xmlns:a="http://schemas.openxmlformats.org/drawingml/2006/main">
              <a:ext uri="{FF2B5EF4-FFF2-40B4-BE49-F238E27FC236}">
                <a16:creationId xmlns:a16="http://schemas.microsoft.com/office/drawing/2014/main" id="{2DF35220-6015-4C3E-A3D4-AA7E23624542}"/>
              </a:ext>
            </a:extLst>
          </p:cNvPr>
          <p:cNvSpPr>
            <a:spLocks xmlns:a="http://schemas.openxmlformats.org/drawingml/2006/main" noGrp="1"/>
          </p:cNvSpPr>
          <p:nvPr/>
        </p:nvSpPr>
        <p:spPr>
          <a:xfrm xmlns:a="http://schemas.openxmlformats.org/drawingml/2006/main">
            <a:off x="609600" y="6667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i="0">
                <a:solidFill>
                  <a:srgbClr val="111111"/>
                </a:solidFill>
              </a:defRPr>
            </a:pPr>
            <a:r>
              <a:rPr sz="3000" b="1" i="0">
                <a:solidFill>
                  <a:srgbClr val="111111"/>
                </a:solidFill>
              </a:rPr>
              <a:t>Time and price change the evening choice set</a:t>
            </a:r>
          </a:p>
        </p:txBody>
      </p:sp>
      <p:sp>
        <p:nvSpPr>
          <p:cNvPr id="3" name="">
            <a:extLst xmlns:a="http://schemas.openxmlformats.org/drawingml/2006/main">
              <a:ext uri="{FF2B5EF4-FFF2-40B4-BE49-F238E27FC236}">
                <a16:creationId xmlns:a16="http://schemas.microsoft.com/office/drawing/2014/main" id="{9C18ED74-CF85-449F-A2A2-429BFD2CDF23}"/>
              </a:ext>
            </a:extLst>
          </p:cNvPr>
          <p:cNvSpPr>
            <a:spLocks xmlns:a="http://schemas.openxmlformats.org/drawingml/2006/main" noGrp="1"/>
          </p:cNvSpPr>
          <p:nvPr/>
        </p:nvSpPr>
        <p:spPr>
          <a:xfrm xmlns:a="http://schemas.openxmlformats.org/drawingml/2006/main">
            <a:off x="609600" y="1390650"/>
            <a:ext cx="10972800" cy="95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9753759a11984a0a"/>
          <a:stretch xmlns:a="http://schemas.openxmlformats.org/drawingml/2006/main"/>
        </p:blipFill>
        <p:spPr>
          <a:xfrm xmlns:a="http://schemas.openxmlformats.org/drawingml/2006/main">
            <a:off x="576243" y="1676400"/>
            <a:ext cx="7534314" cy="4095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7317673-2B38-4880-AC6B-EE26672E56CC}"/>
              </a:ext>
            </a:extLst>
          </p:cNvPr>
          <p:cNvSpPr>
            <a:spLocks xmlns:a="http://schemas.openxmlformats.org/drawingml/2006/main" noGrp="1"/>
          </p:cNvSpPr>
          <p:nvPr/>
        </p:nvSpPr>
        <p:spPr>
          <a:xfrm xmlns:a="http://schemas.openxmlformats.org/drawingml/2006/main">
            <a:off x="8858250" y="1790700"/>
            <a:ext cx="200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450" b="1" i="0">
                <a:solidFill>
                  <a:srgbClr val="168C70"/>
                </a:solidFill>
              </a:defRPr>
            </a:pPr>
            <a:r>
              <a:rPr sz="3450" b="1" i="0">
                <a:solidFill>
                  <a:srgbClr val="168C70"/>
                </a:solidFill>
              </a:rPr>
              <a:t>9</a:t>
            </a:r>
          </a:p>
        </p:txBody>
      </p:sp>
      <p:sp>
        <p:nvSpPr>
          <p:cNvPr id="6" name="">
            <a:extLst xmlns:a="http://schemas.openxmlformats.org/drawingml/2006/main">
              <a:ext uri="{FF2B5EF4-FFF2-40B4-BE49-F238E27FC236}">
                <a16:creationId xmlns:a16="http://schemas.microsoft.com/office/drawing/2014/main" id="{FB7D5F1A-D8D1-47C1-B3E8-A411891A33D4}"/>
              </a:ext>
            </a:extLst>
          </p:cNvPr>
          <p:cNvSpPr>
            <a:spLocks xmlns:a="http://schemas.openxmlformats.org/drawingml/2006/main" noGrp="1"/>
          </p:cNvSpPr>
          <p:nvPr/>
        </p:nvSpPr>
        <p:spPr>
          <a:xfrm xmlns:a="http://schemas.openxmlformats.org/drawingml/2006/main">
            <a:off x="8858250" y="2381250"/>
            <a:ext cx="200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6E6D67"/>
                </a:solidFill>
              </a:defRPr>
            </a:pPr>
            <a:r>
              <a:rPr sz="1125" b="1" i="0">
                <a:solidFill>
                  <a:srgbClr val="6E6D67"/>
                </a:solidFill>
              </a:rPr>
              <a:t>open + within $15</a:t>
            </a:r>
          </a:p>
          <a:p xmlns:a="http://schemas.openxmlformats.org/drawingml/2006/main">
            <a:pPr algn="ctr">
              <a:defRPr sz="1125" b="1" i="0">
                <a:solidFill>
                  <a:srgbClr val="6E6D67"/>
                </a:solidFill>
              </a:defRPr>
            </a:pPr>
            <a:r>
              <a:rPr sz="1125" b="1" i="0">
                <a:solidFill>
                  <a:srgbClr val="6E6D67"/>
                </a:solidFill>
              </a:rPr>
              <a:t>Friday 6:30 PM</a:t>
            </a:r>
          </a:p>
        </p:txBody>
      </p:sp>
      <p:sp>
        <p:nvSpPr>
          <p:cNvPr id="7" name="">
            <a:extLst xmlns:a="http://schemas.openxmlformats.org/drawingml/2006/main">
              <a:ext uri="{FF2B5EF4-FFF2-40B4-BE49-F238E27FC236}">
                <a16:creationId xmlns:a16="http://schemas.microsoft.com/office/drawing/2014/main" id="{7207A68D-292E-43DE-AC08-D82C6BE51BB6}"/>
              </a:ext>
            </a:extLst>
          </p:cNvPr>
          <p:cNvSpPr>
            <a:spLocks xmlns:a="http://schemas.openxmlformats.org/drawingml/2006/main" noGrp="1"/>
          </p:cNvSpPr>
          <p:nvPr/>
        </p:nvSpPr>
        <p:spPr>
          <a:xfrm xmlns:a="http://schemas.openxmlformats.org/drawingml/2006/main">
            <a:off x="8858250" y="3181350"/>
            <a:ext cx="200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450" b="1" i="0">
                <a:solidFill>
                  <a:srgbClr val="EF765F"/>
                </a:solidFill>
              </a:defRPr>
            </a:pPr>
            <a:r>
              <a:rPr sz="3450" b="1" i="0">
                <a:solidFill>
                  <a:srgbClr val="EF765F"/>
                </a:solidFill>
              </a:rPr>
              <a:t>6</a:t>
            </a:r>
          </a:p>
        </p:txBody>
      </p:sp>
      <p:sp>
        <p:nvSpPr>
          <p:cNvPr id="8" name="">
            <a:extLst xmlns:a="http://schemas.openxmlformats.org/drawingml/2006/main">
              <a:ext uri="{FF2B5EF4-FFF2-40B4-BE49-F238E27FC236}">
                <a16:creationId xmlns:a16="http://schemas.microsoft.com/office/drawing/2014/main" id="{B2D8A2B5-5322-4702-B4B0-9152E9435867}"/>
              </a:ext>
            </a:extLst>
          </p:cNvPr>
          <p:cNvSpPr>
            <a:spLocks xmlns:a="http://schemas.openxmlformats.org/drawingml/2006/main" noGrp="1"/>
          </p:cNvSpPr>
          <p:nvPr/>
        </p:nvSpPr>
        <p:spPr>
          <a:xfrm xmlns:a="http://schemas.openxmlformats.org/drawingml/2006/main">
            <a:off x="8858250" y="3771900"/>
            <a:ext cx="200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6E6D67"/>
                </a:solidFill>
              </a:defRPr>
            </a:pPr>
            <a:r>
              <a:rPr sz="1125" b="1" i="0">
                <a:solidFill>
                  <a:srgbClr val="6E6D67"/>
                </a:solidFill>
              </a:rPr>
              <a:t>free at that moment</a:t>
            </a:r>
          </a:p>
        </p:txBody>
      </p:sp>
      <p:sp>
        <p:nvSpPr>
          <p:cNvPr id="9" name="">
            <a:extLst xmlns:a="http://schemas.openxmlformats.org/drawingml/2006/main">
              <a:ext uri="{FF2B5EF4-FFF2-40B4-BE49-F238E27FC236}">
                <a16:creationId xmlns:a16="http://schemas.microsoft.com/office/drawing/2014/main" id="{86008459-FB67-4D86-BF31-36064F8EAFBF}"/>
              </a:ext>
            </a:extLst>
          </p:cNvPr>
          <p:cNvSpPr>
            <a:spLocks xmlns:a="http://schemas.openxmlformats.org/drawingml/2006/main" noGrp="1"/>
          </p:cNvSpPr>
          <p:nvPr/>
        </p:nvSpPr>
        <p:spPr>
          <a:xfrm xmlns:a="http://schemas.openxmlformats.org/drawingml/2006/main">
            <a:off x="8858250" y="4572000"/>
            <a:ext cx="200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450" b="1" i="0">
                <a:solidFill>
                  <a:srgbClr val="365CF5"/>
                </a:solidFill>
              </a:defRPr>
            </a:pPr>
            <a:r>
              <a:rPr sz="3450" b="1" i="0">
                <a:solidFill>
                  <a:srgbClr val="365CF5"/>
                </a:solidFill>
              </a:rPr>
              <a:t>39 min</a:t>
            </a:r>
          </a:p>
        </p:txBody>
      </p:sp>
      <p:sp>
        <p:nvSpPr>
          <p:cNvPr id="10" name="">
            <a:extLst xmlns:a="http://schemas.openxmlformats.org/drawingml/2006/main">
              <a:ext uri="{FF2B5EF4-FFF2-40B4-BE49-F238E27FC236}">
                <a16:creationId xmlns:a16="http://schemas.microsoft.com/office/drawing/2014/main" id="{61245F6E-692E-4FB0-9004-99E8555E711A}"/>
              </a:ext>
            </a:extLst>
          </p:cNvPr>
          <p:cNvSpPr>
            <a:spLocks xmlns:a="http://schemas.openxmlformats.org/drawingml/2006/main" noGrp="1"/>
          </p:cNvSpPr>
          <p:nvPr/>
        </p:nvSpPr>
        <p:spPr>
          <a:xfrm xmlns:a="http://schemas.openxmlformats.org/drawingml/2006/main">
            <a:off x="8858250" y="5162550"/>
            <a:ext cx="200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6E6D67"/>
                </a:solidFill>
              </a:defRPr>
            </a:pPr>
            <a:r>
              <a:rPr sz="1125" b="1" i="0">
                <a:solidFill>
                  <a:srgbClr val="6E6D67"/>
                </a:solidFill>
              </a:rPr>
              <a:t>median modeled journey</a:t>
            </a:r>
          </a:p>
        </p:txBody>
      </p:sp>
      <p:sp>
        <p:nvSpPr>
          <p:cNvPr id="11" name="">
            <a:extLst xmlns:a="http://schemas.openxmlformats.org/drawingml/2006/main">
              <a:ext uri="{FF2B5EF4-FFF2-40B4-BE49-F238E27FC236}">
                <a16:creationId xmlns:a16="http://schemas.microsoft.com/office/drawing/2014/main" id="{CA7A4F19-F280-4C97-9B57-0B4F510AED8A}"/>
              </a:ext>
            </a:extLst>
          </p:cNvPr>
          <p:cNvSpPr>
            <a:spLocks xmlns:a="http://schemas.openxmlformats.org/drawingml/2006/main" noGrp="1"/>
          </p:cNvSpPr>
          <p:nvPr/>
        </p:nvSpPr>
        <p:spPr>
          <a:xfrm xmlns:a="http://schemas.openxmlformats.org/drawingml/2006/main">
            <a:off x="704850" y="58293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1">
                <a:solidFill>
                  <a:srgbClr val="6E6D67"/>
                </a:solidFill>
              </a:defRPr>
            </a:pPr>
            <a:r>
              <a:rPr sz="1050" b="0" i="1">
                <a:solidFill>
                  <a:srgbClr val="6E6D67"/>
                </a:solidFill>
              </a:rPr>
              <a:t>Controlled analytical sample: 25 detailed admission profiles.</a:t>
            </a:r>
          </a:p>
        </p:txBody>
      </p:sp>
      <p:sp>
        <p:nvSpPr>
          <p:cNvPr id="12" name="">
            <a:extLst xmlns:a="http://schemas.openxmlformats.org/drawingml/2006/main">
              <a:ext uri="{FF2B5EF4-FFF2-40B4-BE49-F238E27FC236}">
                <a16:creationId xmlns:a16="http://schemas.microsoft.com/office/drawing/2014/main" id="{50056F53-4A29-4E9D-8184-F6282460C6B7}"/>
              </a:ext>
            </a:extLst>
          </p:cNvPr>
          <p:cNvSpPr>
            <a:spLocks xmlns:a="http://schemas.openxmlformats.org/drawingml/2006/main" noGrp="1"/>
          </p:cNvSpPr>
          <p:nvPr/>
        </p:nvSpPr>
        <p:spPr>
          <a:xfrm xmlns:a="http://schemas.openxmlformats.org/drawingml/2006/main">
            <a:off x="647700" y="6153150"/>
            <a:ext cx="10382250" cy="26670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14CEA03-FA0D-43A7-ADC1-CE13818CB79D}"/>
              </a:ext>
            </a:extLst>
          </p:cNvPr>
          <p:cNvSpPr>
            <a:spLocks xmlns:a="http://schemas.openxmlformats.org/drawingml/2006/main" noGrp="1"/>
          </p:cNvSpPr>
          <p:nvPr/>
        </p:nvSpPr>
        <p:spPr>
          <a:xfrm xmlns:a="http://schemas.openxmlformats.org/drawingml/2006/main">
            <a:off x="838200" y="6200775"/>
            <a:ext cx="1000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FFFFFF"/>
                </a:solidFill>
              </a:defRPr>
            </a:pPr>
            <a:r>
              <a:rPr sz="1125" b="1" i="0">
                <a:solidFill>
                  <a:srgbClr val="FFFFFF"/>
                </a:solidFill>
              </a:rPr>
              <a:t>The closest option can disappear because it closes, exceeds budget, or takes longer through the network.</a:t>
            </a:r>
          </a:p>
        </p:txBody>
      </p:sp>
      <p:sp>
        <p:nvSpPr>
          <p:cNvPr id="14" name="footer-label">
            <a:extLst xmlns:a="http://schemas.openxmlformats.org/drawingml/2006/main">
              <a:ext uri="{FF2B5EF4-FFF2-40B4-BE49-F238E27FC236}">
                <a16:creationId xmlns:a16="http://schemas.microsoft.com/office/drawing/2014/main" id="{7C49417B-A354-4930-B54E-C31E111CAF3E}"/>
              </a:ext>
            </a:extLst>
          </p:cNvPr>
          <p:cNvSpPr>
            <a:spLocks xmlns:a="http://schemas.openxmlformats.org/drawingml/2006/main" noGrp="1"/>
          </p:cNvSpPr>
          <p:nvPr/>
        </p:nvSpPr>
        <p:spPr>
          <a:xfrm xmlns:a="http://schemas.openxmlformats.org/drawingml/2006/main">
            <a:off x="609600" y="6515100"/>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1" i="0">
                <a:solidFill>
                  <a:srgbClr val="6E6D67"/>
                </a:solidFill>
              </a:defRPr>
            </a:pPr>
            <a:r>
              <a:rPr sz="750" b="1" i="0">
                <a:solidFill>
                  <a:srgbClr val="6E6D67"/>
                </a:solidFill>
              </a:rPr>
              <a:t>AFTER / SIX NYC</a:t>
            </a:r>
          </a:p>
        </p:txBody>
      </p:sp>
      <p:sp>
        <p:nvSpPr>
          <p:cNvPr id="15" name="footer-number">
            <a:extLst xmlns:a="http://schemas.openxmlformats.org/drawingml/2006/main">
              <a:ext uri="{FF2B5EF4-FFF2-40B4-BE49-F238E27FC236}">
                <a16:creationId xmlns:a16="http://schemas.microsoft.com/office/drawing/2014/main" id="{4A73A6AC-B308-4558-A1DF-E6D8E7248983}"/>
              </a:ext>
            </a:extLst>
          </p:cNvPr>
          <p:cNvSpPr>
            <a:spLocks xmlns:a="http://schemas.openxmlformats.org/drawingml/2006/main" noGrp="1"/>
          </p:cNvSpPr>
          <p:nvPr/>
        </p:nvSpPr>
        <p:spPr>
          <a:xfrm xmlns:a="http://schemas.openxmlformats.org/drawingml/2006/main">
            <a:off x="10972800" y="6515100"/>
            <a:ext cx="609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6E6D67"/>
                </a:solidFill>
              </a:defRPr>
            </a:pPr>
            <a:r>
              <a:rPr sz="750" b="1" i="0">
                <a:solidFill>
                  <a:srgbClr val="6E6D67"/>
                </a:solidFill>
              </a:rPr>
              <a:t>05</a:t>
            </a:r>
          </a:p>
        </p:txBody>
      </p:sp>
    </p:spTree>
    <p:extLst>
      <p:ext uri="{BB962C8B-B14F-4D97-AF65-F5344CB8AC3E}">
        <p14:creationId xmlns:p14="http://schemas.microsoft.com/office/powerpoint/2010/main" val="891306599"/>
      </p:ext>
    </p:extLst>
  </p:cSld>
</p:sld>
</file>

<file path=ppt/slides/slide6.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53F3361-82BB-4C68-BCDF-18C67319162F}"/>
              </a:ext>
            </a:extLst>
          </p:cNvPr>
          <p:cNvSpPr>
            <a:spLocks xmlns:a="http://schemas.openxmlformats.org/drawingml/2006/main" noGrp="1"/>
          </p:cNvSpPr>
          <p:nvPr/>
        </p:nvSpPr>
        <p:spPr>
          <a:xfrm xmlns:a="http://schemas.openxmlformats.org/drawingml/2006/main">
            <a:off x="609600" y="4762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C8F25B"/>
                </a:solidFill>
              </a:defRPr>
            </a:pPr>
            <a:r>
              <a:rPr sz="975" b="1" i="0">
                <a:solidFill>
                  <a:srgbClr val="C8F25B"/>
                </a:solidFill>
              </a:rPr>
              <a:t>REFLECTION + NEXT SEMESTER</a:t>
            </a:r>
          </a:p>
        </p:txBody>
      </p:sp>
      <p:sp>
        <p:nvSpPr>
          <p:cNvPr id="2" name="">
            <a:extLst xmlns:a="http://schemas.openxmlformats.org/drawingml/2006/main">
              <a:ext uri="{FF2B5EF4-FFF2-40B4-BE49-F238E27FC236}">
                <a16:creationId xmlns:a16="http://schemas.microsoft.com/office/drawing/2014/main" id="{67C632BE-A037-40B3-94BC-9070D1324172}"/>
              </a:ext>
            </a:extLst>
          </p:cNvPr>
          <p:cNvSpPr>
            <a:spLocks xmlns:a="http://schemas.openxmlformats.org/drawingml/2006/main" noGrp="1"/>
          </p:cNvSpPr>
          <p:nvPr/>
        </p:nvSpPr>
        <p:spPr>
          <a:xfrm xmlns:a="http://schemas.openxmlformats.org/drawingml/2006/main">
            <a:off x="609600" y="10668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i="0">
                <a:solidFill>
                  <a:srgbClr val="FFFFFF"/>
                </a:solidFill>
              </a:defRPr>
            </a:pPr>
            <a:r>
              <a:rPr sz="3150" b="1" i="0">
                <a:solidFill>
                  <a:srgbClr val="FFFFFF"/>
                </a:solidFill>
              </a:rPr>
              <a:t>Good cultural maps show their assumptions.</a:t>
            </a:r>
          </a:p>
        </p:txBody>
      </p:sp>
      <p:sp>
        <p:nvSpPr>
          <p:cNvPr id="3" name="">
            <a:extLst xmlns:a="http://schemas.openxmlformats.org/drawingml/2006/main">
              <a:ext uri="{FF2B5EF4-FFF2-40B4-BE49-F238E27FC236}">
                <a16:creationId xmlns:a16="http://schemas.microsoft.com/office/drawing/2014/main" id="{0CFC75EF-5636-4E9F-A8BD-E51C191962FD}"/>
              </a:ext>
            </a:extLst>
          </p:cNvPr>
          <p:cNvSpPr>
            <a:spLocks xmlns:a="http://schemas.openxmlformats.org/drawingml/2006/main" noGrp="1"/>
          </p:cNvSpPr>
          <p:nvPr/>
        </p:nvSpPr>
        <p:spPr>
          <a:xfrm xmlns:a="http://schemas.openxmlformats.org/drawingml/2006/main">
            <a:off x="609600" y="1962150"/>
            <a:ext cx="10972800" cy="9525"/>
          </a:xfrm>
          <a:prstGeom xmlns:a="http://schemas.openxmlformats.org/drawingml/2006/main" prst="rect">
            <a:avLst/>
          </a:prstGeom>
          <a:solidFill xmlns:a="http://schemas.openxmlformats.org/drawingml/2006/main">
            <a:srgbClr val="56565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8C88BB6-FAA6-48CA-8CE0-B85D47D06630}"/>
              </a:ext>
            </a:extLst>
          </p:cNvPr>
          <p:cNvSpPr>
            <a:spLocks xmlns:a="http://schemas.openxmlformats.org/drawingml/2006/main" noGrp="1"/>
          </p:cNvSpPr>
          <p:nvPr/>
        </p:nvSpPr>
        <p:spPr>
          <a:xfrm xmlns:a="http://schemas.openxmlformats.org/drawingml/2006/main">
            <a:off x="647700" y="241935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68C70"/>
                </a:solidFill>
              </a:defRPr>
            </a:pPr>
            <a:r>
              <a:rPr sz="1350" b="1" i="0">
                <a:solidFill>
                  <a:srgbClr val="168C70"/>
                </a:solidFill>
              </a:rPr>
              <a:t>WORKING NOW</a:t>
            </a:r>
          </a:p>
        </p:txBody>
      </p:sp>
      <p:sp>
        <p:nvSpPr>
          <p:cNvPr id="5" name="">
            <a:extLst xmlns:a="http://schemas.openxmlformats.org/drawingml/2006/main">
              <a:ext uri="{FF2B5EF4-FFF2-40B4-BE49-F238E27FC236}">
                <a16:creationId xmlns:a16="http://schemas.microsoft.com/office/drawing/2014/main" id="{9955D535-3371-402B-B5A3-C9B66C39FD90}"/>
              </a:ext>
            </a:extLst>
          </p:cNvPr>
          <p:cNvSpPr>
            <a:spLocks xmlns:a="http://schemas.openxmlformats.org/drawingml/2006/main" noGrp="1"/>
          </p:cNvSpPr>
          <p:nvPr/>
        </p:nvSpPr>
        <p:spPr>
          <a:xfrm xmlns:a="http://schemas.openxmlformats.org/drawingml/2006/main">
            <a:off x="647700" y="2838450"/>
            <a:ext cx="3009900" cy="47625"/>
          </a:xfrm>
          <a:prstGeom xmlns:a="http://schemas.openxmlformats.org/drawingml/2006/main" prst="rect">
            <a:avLst/>
          </a:prstGeom>
          <a:solidFill xmlns:a="http://schemas.openxmlformats.org/drawingml/2006/main">
            <a:srgbClr val="168C7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A8A8EBB-2149-4DD1-BE99-04792AAB96F2}"/>
              </a:ext>
            </a:extLst>
          </p:cNvPr>
          <p:cNvSpPr>
            <a:spLocks xmlns:a="http://schemas.openxmlformats.org/drawingml/2006/main" noGrp="1"/>
          </p:cNvSpPr>
          <p:nvPr/>
        </p:nvSpPr>
        <p:spPr>
          <a:xfrm xmlns:a="http://schemas.openxmlformats.org/drawingml/2006/main">
            <a:off x="647700" y="3133725"/>
            <a:ext cx="314325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FFFFFF"/>
                </a:solidFill>
              </a:defRPr>
            </a:pPr>
            <a:r>
              <a:rPr sz="1350" b="0" i="0">
                <a:solidFill>
                  <a:srgbClr val="FFFFFF"/>
                </a:solidFill>
              </a:rPr>
              <a:t>161 screened public places</a:t>
            </a:r>
          </a:p>
          <a:p xmlns:a="http://schemas.openxmlformats.org/drawingml/2006/main">
            <a:pPr algn="l">
              <a:defRPr sz="1350" b="0" i="0">
                <a:solidFill>
                  <a:srgbClr val="FFFFFF"/>
                </a:solidFill>
              </a:defRPr>
            </a:pPr>
            <a:r>
              <a:rPr sz="1350" b="0" i="0">
                <a:solidFill>
                  <a:srgbClr val="FFFFFF"/>
                </a:solidFill>
              </a:rPr>
              <a:t>Route and arrival for every place</a:t>
            </a:r>
          </a:p>
          <a:p xmlns:a="http://schemas.openxmlformats.org/drawingml/2006/main">
            <a:pPr algn="l">
              <a:defRPr sz="1350" b="0" i="0">
                <a:solidFill>
                  <a:srgbClr val="FFFFFF"/>
                </a:solidFill>
              </a:defRPr>
            </a:pPr>
            <a:r>
              <a:rPr sz="1350" b="0" i="0">
                <a:solidFill>
                  <a:srgbClr val="FFFFFF"/>
                </a:solidFill>
              </a:rPr>
              <a:t>106 weekly schedules</a:t>
            </a:r>
          </a:p>
          <a:p xmlns:a="http://schemas.openxmlformats.org/drawingml/2006/main">
            <a:pPr algn="l">
              <a:defRPr sz="1350" b="0" i="0">
                <a:solidFill>
                  <a:srgbClr val="FFFFFF"/>
                </a:solidFill>
              </a:defRPr>
            </a:pPr>
            <a:r>
              <a:rPr sz="1350" b="0" i="0">
                <a:solidFill>
                  <a:srgbClr val="FFFFFF"/>
                </a:solidFill>
              </a:rPr>
              <a:t>16 date-checked programs</a:t>
            </a:r>
          </a:p>
        </p:txBody>
      </p:sp>
      <p:sp>
        <p:nvSpPr>
          <p:cNvPr id="7" name="">
            <a:extLst xmlns:a="http://schemas.openxmlformats.org/drawingml/2006/main">
              <a:ext uri="{FF2B5EF4-FFF2-40B4-BE49-F238E27FC236}">
                <a16:creationId xmlns:a16="http://schemas.microsoft.com/office/drawing/2014/main" id="{3B04A32D-FB96-4D5D-98BE-D3B669CDAC5D}"/>
              </a:ext>
            </a:extLst>
          </p:cNvPr>
          <p:cNvSpPr>
            <a:spLocks xmlns:a="http://schemas.openxmlformats.org/drawingml/2006/main" noGrp="1"/>
          </p:cNvSpPr>
          <p:nvPr/>
        </p:nvSpPr>
        <p:spPr>
          <a:xfrm xmlns:a="http://schemas.openxmlformats.org/drawingml/2006/main">
            <a:off x="4171950" y="241935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EF765F"/>
                </a:solidFill>
              </a:defRPr>
            </a:pPr>
            <a:r>
              <a:rPr sz="1350" b="1" i="0">
                <a:solidFill>
                  <a:srgbClr val="EF765F"/>
                </a:solidFill>
              </a:rPr>
              <a:t>CURRENT LIMITS</a:t>
            </a:r>
          </a:p>
        </p:txBody>
      </p:sp>
      <p:sp>
        <p:nvSpPr>
          <p:cNvPr id="8" name="">
            <a:extLst xmlns:a="http://schemas.openxmlformats.org/drawingml/2006/main">
              <a:ext uri="{FF2B5EF4-FFF2-40B4-BE49-F238E27FC236}">
                <a16:creationId xmlns:a16="http://schemas.microsoft.com/office/drawing/2014/main" id="{96D9252D-104A-46F5-96AB-31C48BB85B13}"/>
              </a:ext>
            </a:extLst>
          </p:cNvPr>
          <p:cNvSpPr>
            <a:spLocks xmlns:a="http://schemas.openxmlformats.org/drawingml/2006/main" noGrp="1"/>
          </p:cNvSpPr>
          <p:nvPr/>
        </p:nvSpPr>
        <p:spPr>
          <a:xfrm xmlns:a="http://schemas.openxmlformats.org/drawingml/2006/main">
            <a:off x="4171950" y="2838450"/>
            <a:ext cx="3009900" cy="47625"/>
          </a:xfrm>
          <a:prstGeom xmlns:a="http://schemas.openxmlformats.org/drawingml/2006/main" prst="rect">
            <a:avLst/>
          </a:prstGeom>
          <a:solidFill xmlns:a="http://schemas.openxmlformats.org/drawingml/2006/main">
            <a:srgbClr val="EF765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600B03E-F44E-48BD-AD7C-C0CBD9187AAD}"/>
              </a:ext>
            </a:extLst>
          </p:cNvPr>
          <p:cNvSpPr>
            <a:spLocks xmlns:a="http://schemas.openxmlformats.org/drawingml/2006/main" noGrp="1"/>
          </p:cNvSpPr>
          <p:nvPr/>
        </p:nvSpPr>
        <p:spPr>
          <a:xfrm xmlns:a="http://schemas.openxmlformats.org/drawingml/2006/main">
            <a:off x="4171950" y="3133725"/>
            <a:ext cx="314325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FFFFFF"/>
                </a:solidFill>
              </a:defRPr>
            </a:pPr>
            <a:r>
              <a:rPr sz="1350" b="0" i="0">
                <a:solidFill>
                  <a:srgbClr val="FFFFFF"/>
                </a:solidFill>
              </a:rPr>
              <a:t>Static, not live, GTFS</a:t>
            </a:r>
          </a:p>
          <a:p xmlns:a="http://schemas.openxmlformats.org/drawingml/2006/main">
            <a:pPr algn="l">
              <a:defRPr sz="1350" b="0" i="0">
                <a:solidFill>
                  <a:srgbClr val="FFFFFF"/>
                </a:solidFill>
              </a:defRPr>
            </a:pPr>
            <a:r>
              <a:rPr sz="1350" b="0" i="0">
                <a:solidFill>
                  <a:srgbClr val="FFFFFF"/>
                </a:solidFill>
              </a:rPr>
              <a:t>No delay or elevator outage feed</a:t>
            </a:r>
          </a:p>
          <a:p xmlns:a="http://schemas.openxmlformats.org/drawingml/2006/main">
            <a:pPr algn="l">
              <a:defRPr sz="1350" b="0" i="0">
                <a:solidFill>
                  <a:srgbClr val="FFFFFF"/>
                </a:solidFill>
              </a:defRPr>
            </a:pPr>
            <a:r>
              <a:rPr sz="1350" b="0" i="0">
                <a:solidFill>
                  <a:srgbClr val="FFFFFF"/>
                </a:solidFill>
              </a:rPr>
              <a:t>No sellout or interior-access data</a:t>
            </a:r>
          </a:p>
          <a:p xmlns:a="http://schemas.openxmlformats.org/drawingml/2006/main">
            <a:pPr algn="l">
              <a:defRPr sz="1350" b="0" i="0">
                <a:solidFill>
                  <a:srgbClr val="FFFFFF"/>
                </a:solidFill>
              </a:defRPr>
            </a:pPr>
            <a:r>
              <a:rPr sz="1350" b="0" i="0">
                <a:solidFill>
                  <a:srgbClr val="FFFFFF"/>
                </a:solidFill>
              </a:rPr>
              <a:t>Cannot calculate whether a place feels welcoming</a:t>
            </a:r>
          </a:p>
        </p:txBody>
      </p:sp>
      <p:sp>
        <p:nvSpPr>
          <p:cNvPr id="10" name="">
            <a:extLst xmlns:a="http://schemas.openxmlformats.org/drawingml/2006/main">
              <a:ext uri="{FF2B5EF4-FFF2-40B4-BE49-F238E27FC236}">
                <a16:creationId xmlns:a16="http://schemas.microsoft.com/office/drawing/2014/main" id="{BCA2D659-3EB1-4E25-8463-7955AD7A5F40}"/>
              </a:ext>
            </a:extLst>
          </p:cNvPr>
          <p:cNvSpPr>
            <a:spLocks xmlns:a="http://schemas.openxmlformats.org/drawingml/2006/main" noGrp="1"/>
          </p:cNvSpPr>
          <p:nvPr/>
        </p:nvSpPr>
        <p:spPr>
          <a:xfrm xmlns:a="http://schemas.openxmlformats.org/drawingml/2006/main">
            <a:off x="7696200" y="241935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365CF5"/>
                </a:solidFill>
              </a:defRPr>
            </a:pPr>
            <a:r>
              <a:rPr sz="1350" b="1" i="0">
                <a:solidFill>
                  <a:srgbClr val="365CF5"/>
                </a:solidFill>
              </a:rPr>
              <a:t>NEXT SEMESTER</a:t>
            </a:r>
          </a:p>
        </p:txBody>
      </p:sp>
      <p:sp>
        <p:nvSpPr>
          <p:cNvPr id="11" name="">
            <a:extLst xmlns:a="http://schemas.openxmlformats.org/drawingml/2006/main">
              <a:ext uri="{FF2B5EF4-FFF2-40B4-BE49-F238E27FC236}">
                <a16:creationId xmlns:a16="http://schemas.microsoft.com/office/drawing/2014/main" id="{482F5337-3FD8-44A5-957E-5C695FEC8879}"/>
              </a:ext>
            </a:extLst>
          </p:cNvPr>
          <p:cNvSpPr>
            <a:spLocks xmlns:a="http://schemas.openxmlformats.org/drawingml/2006/main" noGrp="1"/>
          </p:cNvSpPr>
          <p:nvPr/>
        </p:nvSpPr>
        <p:spPr>
          <a:xfrm xmlns:a="http://schemas.openxmlformats.org/drawingml/2006/main">
            <a:off x="7696200" y="2838450"/>
            <a:ext cx="3009900" cy="47625"/>
          </a:xfrm>
          <a:prstGeom xmlns:a="http://schemas.openxmlformats.org/drawingml/2006/main" prst="rect">
            <a:avLst/>
          </a:prstGeom>
          <a:solidFill xmlns:a="http://schemas.openxmlformats.org/drawingml/2006/main">
            <a:srgbClr val="365CF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CFC63A7-AA8E-49CF-81C4-B346D333CE5D}"/>
              </a:ext>
            </a:extLst>
          </p:cNvPr>
          <p:cNvSpPr>
            <a:spLocks xmlns:a="http://schemas.openxmlformats.org/drawingml/2006/main" noGrp="1"/>
          </p:cNvSpPr>
          <p:nvPr/>
        </p:nvSpPr>
        <p:spPr>
          <a:xfrm xmlns:a="http://schemas.openxmlformats.org/drawingml/2006/main">
            <a:off x="7696200" y="3133725"/>
            <a:ext cx="314325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FFFFFF"/>
                </a:solidFill>
              </a:defRPr>
            </a:pPr>
            <a:r>
              <a:rPr sz="1350" b="0" i="0">
                <a:solidFill>
                  <a:srgbClr val="FFFFFF"/>
                </a:solidFill>
              </a:rPr>
              <a:t>Live transit and elevator feeds</a:t>
            </a:r>
          </a:p>
          <a:p xmlns:a="http://schemas.openxmlformats.org/drawingml/2006/main">
            <a:pPr algn="l">
              <a:defRPr sz="1350" b="0" i="0">
                <a:solidFill>
                  <a:srgbClr val="FFFFFF"/>
                </a:solidFill>
              </a:defRPr>
            </a:pPr>
            <a:r>
              <a:rPr sz="1350" b="0" i="0">
                <a:solidFill>
                  <a:srgbClr val="FFFFFF"/>
                </a:solidFill>
              </a:rPr>
              <a:t>Automated official event updates</a:t>
            </a:r>
          </a:p>
          <a:p xmlns:a="http://schemas.openxmlformats.org/drawingml/2006/main">
            <a:pPr algn="l">
              <a:defRPr sz="1350" b="0" i="0">
                <a:solidFill>
                  <a:srgbClr val="FFFFFF"/>
                </a:solidFill>
              </a:defRPr>
            </a:pPr>
            <a:r>
              <a:rPr sz="1350" b="0" i="0">
                <a:solidFill>
                  <a:srgbClr val="FFFFFF"/>
                </a:solidFill>
              </a:rPr>
              <a:t>Optional cross-device profiles</a:t>
            </a:r>
          </a:p>
          <a:p xmlns:a="http://schemas.openxmlformats.org/drawingml/2006/main">
            <a:pPr algn="l">
              <a:defRPr sz="1350" b="0" i="0">
                <a:solidFill>
                  <a:srgbClr val="FFFFFF"/>
                </a:solidFill>
              </a:defRPr>
            </a:pPr>
            <a:r>
              <a:rPr sz="1350" b="0" i="0">
                <a:solidFill>
                  <a:srgbClr val="FFFFFF"/>
                </a:solidFill>
              </a:rPr>
              <a:t>User testing + deeper equity analysis</a:t>
            </a:r>
          </a:p>
        </p:txBody>
      </p:sp>
      <p:sp>
        <p:nvSpPr>
          <p:cNvPr id="13" name="">
            <a:extLst xmlns:a="http://schemas.openxmlformats.org/drawingml/2006/main">
              <a:ext uri="{FF2B5EF4-FFF2-40B4-BE49-F238E27FC236}">
                <a16:creationId xmlns:a16="http://schemas.microsoft.com/office/drawing/2014/main" id="{B7828BBE-8F0A-46CC-99D3-9696C2B7C673}"/>
              </a:ext>
            </a:extLst>
          </p:cNvPr>
          <p:cNvSpPr>
            <a:spLocks xmlns:a="http://schemas.openxmlformats.org/drawingml/2006/main" noGrp="1"/>
          </p:cNvSpPr>
          <p:nvPr/>
        </p:nvSpPr>
        <p:spPr>
          <a:xfrm xmlns:a="http://schemas.openxmlformats.org/drawingml/2006/main">
            <a:off x="609600" y="5219700"/>
            <a:ext cx="10972800" cy="819150"/>
          </a:xfrm>
          <a:prstGeom xmlns:a="http://schemas.openxmlformats.org/drawingml/2006/main" prst="rect">
            <a:avLst/>
          </a:prstGeom>
          <a:solidFill xmlns:a="http://schemas.openxmlformats.org/drawingml/2006/main">
            <a:srgbClr val="C8F25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CB9FE76-4B4B-4656-B90E-B3E1E99D2EAA}"/>
              </a:ext>
            </a:extLst>
          </p:cNvPr>
          <p:cNvSpPr>
            <a:spLocks xmlns:a="http://schemas.openxmlformats.org/drawingml/2006/main" noGrp="1"/>
          </p:cNvSpPr>
          <p:nvPr/>
        </p:nvSpPr>
        <p:spPr>
          <a:xfrm xmlns:a="http://schemas.openxmlformats.org/drawingml/2006/main">
            <a:off x="838200" y="5410200"/>
            <a:ext cx="10496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i="0">
                <a:solidFill>
                  <a:srgbClr val="111111"/>
                </a:solidFill>
              </a:defRPr>
            </a:pPr>
            <a:r>
              <a:rPr sz="2025" b="1" i="0">
                <a:solidFill>
                  <a:srgbClr val="111111"/>
                </a:solidFill>
              </a:rPr>
              <a:t>Access is a relationship between a person, a place, a time, and a network.</a:t>
            </a:r>
          </a:p>
        </p:txBody>
      </p:sp>
      <p:sp>
        <p:nvSpPr>
          <p:cNvPr id="15" name="footer-label">
            <a:extLst xmlns:a="http://schemas.openxmlformats.org/drawingml/2006/main">
              <a:ext uri="{FF2B5EF4-FFF2-40B4-BE49-F238E27FC236}">
                <a16:creationId xmlns:a16="http://schemas.microsoft.com/office/drawing/2014/main" id="{E4964D6C-B2C0-4190-B0CF-1D7722A69F60}"/>
              </a:ext>
            </a:extLst>
          </p:cNvPr>
          <p:cNvSpPr>
            <a:spLocks xmlns:a="http://schemas.openxmlformats.org/drawingml/2006/main" noGrp="1"/>
          </p:cNvSpPr>
          <p:nvPr/>
        </p:nvSpPr>
        <p:spPr>
          <a:xfrm xmlns:a="http://schemas.openxmlformats.org/drawingml/2006/main">
            <a:off x="609600" y="6515100"/>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1" i="0">
                <a:solidFill>
                  <a:srgbClr val="9D9B94"/>
                </a:solidFill>
              </a:defRPr>
            </a:pPr>
            <a:r>
              <a:rPr sz="750" b="1" i="0">
                <a:solidFill>
                  <a:srgbClr val="9D9B94"/>
                </a:solidFill>
              </a:rPr>
              <a:t>AFTER / SIX NYC</a:t>
            </a:r>
          </a:p>
        </p:txBody>
      </p:sp>
      <p:sp>
        <p:nvSpPr>
          <p:cNvPr id="16" name="footer-number">
            <a:extLst xmlns:a="http://schemas.openxmlformats.org/drawingml/2006/main">
              <a:ext uri="{FF2B5EF4-FFF2-40B4-BE49-F238E27FC236}">
                <a16:creationId xmlns:a16="http://schemas.microsoft.com/office/drawing/2014/main" id="{4DABE7F1-091E-4885-8F82-818BDB96FDB4}"/>
              </a:ext>
            </a:extLst>
          </p:cNvPr>
          <p:cNvSpPr>
            <a:spLocks xmlns:a="http://schemas.openxmlformats.org/drawingml/2006/main" noGrp="1"/>
          </p:cNvSpPr>
          <p:nvPr/>
        </p:nvSpPr>
        <p:spPr>
          <a:xfrm xmlns:a="http://schemas.openxmlformats.org/drawingml/2006/main">
            <a:off x="10972800" y="6515100"/>
            <a:ext cx="609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i="0">
                <a:solidFill>
                  <a:srgbClr val="9D9B94"/>
                </a:solidFill>
              </a:defRPr>
            </a:pPr>
            <a:r>
              <a:rPr sz="750" b="1" i="0">
                <a:solidFill>
                  <a:srgbClr val="9D9B94"/>
                </a:solidFill>
              </a:rPr>
              <a:t>06</a:t>
            </a:r>
          </a:p>
        </p:txBody>
      </p:sp>
    </p:spTree>
    <p:extLst>
      <p:ext uri="{BB962C8B-B14F-4D97-AF65-F5344CB8AC3E}">
        <p14:creationId xmlns:p14="http://schemas.microsoft.com/office/powerpoint/2010/main" val="7287986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2026-08-04T01:50:54.9020000Z</dcterms:created>
  <dcterms:modified xsi:type="dcterms:W3CDTF">2026-08-04T01:50:54.9020000Z</dcterms:modified>
</coreProperties>
</file>